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sldIdLst>
    <p:sldId id="256" r:id="rId5"/>
    <p:sldId id="257" r:id="rId6"/>
    <p:sldId id="259" r:id="rId7"/>
    <p:sldId id="258" r:id="rId8"/>
    <p:sldId id="266" r:id="rId9"/>
    <p:sldId id="260" r:id="rId10"/>
    <p:sldId id="261" r:id="rId11"/>
    <p:sldId id="262" r:id="rId12"/>
    <p:sldId id="265" r:id="rId13"/>
    <p:sldId id="263" r:id="rId14"/>
    <p:sldId id="264"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7" d="100"/>
          <a:sy n="117" d="100"/>
        </p:scale>
        <p:origin x="31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90398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C7FCA-83E4-315B-A1AA-251998F03D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334638-F385-9200-7725-C466472A85EF}"/>
              </a:ext>
            </a:extLst>
          </p:cNvPr>
          <p:cNvSpPr>
            <a:spLocks noGrp="1" noRot="1" noChangeAspect="1"/>
          </p:cNvSpPr>
          <p:nvPr>
            <p:ph type="sldImg"/>
          </p:nvPr>
        </p:nvSpPr>
        <p:spPr/>
        <p:txBody>
          <a:bodyPr/>
          <a:lstStyle/>
          <a:p>
            <a:endParaRPr lang="es-CO"/>
          </a:p>
        </p:txBody>
      </p:sp>
      <p:sp>
        <p:nvSpPr>
          <p:cNvPr id="3" name="Notes Placeholder 2">
            <a:extLst>
              <a:ext uri="{FF2B5EF4-FFF2-40B4-BE49-F238E27FC236}">
                <a16:creationId xmlns:a16="http://schemas.microsoft.com/office/drawing/2014/main" id="{E3F9A630-C328-4C80-8137-6175D3E0FD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B33D30-910E-F92C-8869-F217C1DB6CE7}"/>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2696244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4B45-5E9E-B42E-6047-E24CC389C0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53D3C9-4503-7318-1723-FB4FACE30F29}"/>
              </a:ext>
            </a:extLst>
          </p:cNvPr>
          <p:cNvSpPr>
            <a:spLocks noGrp="1" noRot="1" noChangeAspect="1"/>
          </p:cNvSpPr>
          <p:nvPr>
            <p:ph type="sldImg"/>
          </p:nvPr>
        </p:nvSpPr>
        <p:spPr/>
        <p:txBody>
          <a:bodyPr/>
          <a:lstStyle/>
          <a:p>
            <a:endParaRPr lang="es-CO"/>
          </a:p>
        </p:txBody>
      </p:sp>
      <p:sp>
        <p:nvSpPr>
          <p:cNvPr id="3" name="Notes Placeholder 2">
            <a:extLst>
              <a:ext uri="{FF2B5EF4-FFF2-40B4-BE49-F238E27FC236}">
                <a16:creationId xmlns:a16="http://schemas.microsoft.com/office/drawing/2014/main" id="{75BD9564-7AFE-B670-2198-8217C8D352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2543B4-AEC9-3B70-C2E6-FDD716B89CA8}"/>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7664861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8.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5.jpe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7.jpeg"/></Relationships>
</file>

<file path=ppt/slides/_rels/slide9.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4.png"/><Relationship Id="rId9" Type="http://schemas.openxmlformats.org/officeDocument/2006/relationships/image" Target="../media/image32.png"/></Relationships>
</file>

<file path=ppt/slides/_rels/slide1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 Id="rId9" Type="http://schemas.openxmlformats.org/officeDocument/2006/relationships/hyperlink" Target="https://github.com/delahozcristian36-eng/PROYECTO_SENA.git"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0F2E"/>
        </a:solidFill>
        <a:effectLst/>
      </p:bgPr>
    </p:bg>
    <p:spTree>
      <p:nvGrpSpPr>
        <p:cNvPr id="1" name=""/>
        <p:cNvGrpSpPr/>
        <p:nvPr/>
      </p:nvGrpSpPr>
      <p:grpSpPr>
        <a:xfrm>
          <a:off x="0" y="0"/>
          <a:ext cx="0" cy="0"/>
          <a:chOff x="0" y="0"/>
          <a:chExt cx="0" cy="0"/>
        </a:xfrm>
      </p:grpSpPr>
      <p:sp>
        <p:nvSpPr>
          <p:cNvPr id="2" name="Shape 0"/>
          <p:cNvSpPr/>
          <p:nvPr/>
        </p:nvSpPr>
        <p:spPr>
          <a:xfrm>
            <a:off x="0" y="0"/>
            <a:ext cx="12191947" cy="6857964"/>
          </a:xfrm>
          <a:prstGeom prst="rect">
            <a:avLst/>
          </a:prstGeom>
          <a:solidFill>
            <a:schemeClr val="accent1">
              <a:lumMod val="75000"/>
            </a:schemeClr>
          </a:solidFill>
          <a:ln/>
        </p:spPr>
        <p:txBody>
          <a:bodyPr/>
          <a:lstStyle/>
          <a:p>
            <a:endParaRPr lang="es-CO" dirty="0"/>
          </a:p>
        </p:txBody>
      </p:sp>
      <p:pic>
        <p:nvPicPr>
          <p:cNvPr id="3" name="Image 0" descr="ellipse"/>
          <p:cNvPicPr>
            <a:picLocks noChangeAspect="1"/>
          </p:cNvPicPr>
          <p:nvPr/>
        </p:nvPicPr>
        <p:blipFill>
          <a:blip r:embed="rId3">
            <a:extLst>
              <a:ext uri="{BEBA8EAE-BF5A-486C-A8C5-ECC9F3942E4B}">
                <a14:imgProps xmlns:a14="http://schemas.microsoft.com/office/drawing/2010/main">
                  <a14:imgLayer r:embed="rId4">
                    <a14:imgEffect>
                      <a14:saturation sat="33000"/>
                    </a14:imgEffect>
                  </a14:imgLayer>
                </a14:imgProps>
              </a:ext>
            </a:extLst>
          </a:blip>
          <a:srcRect/>
          <a:stretch/>
        </p:blipFill>
        <p:spPr>
          <a:xfrm>
            <a:off x="8636018" y="0"/>
            <a:ext cx="3555929" cy="3555929"/>
          </a:xfrm>
          <a:prstGeom prst="rect">
            <a:avLst/>
          </a:prstGeom>
        </p:spPr>
      </p:pic>
      <p:pic>
        <p:nvPicPr>
          <p:cNvPr id="4" name="Image 1" descr="ellipse"/>
          <p:cNvPicPr>
            <a:picLocks noChangeAspect="1"/>
          </p:cNvPicPr>
          <p:nvPr/>
        </p:nvPicPr>
        <p:blipFill>
          <a:blip r:embed="rId5">
            <a:extLst>
              <a:ext uri="{BEBA8EAE-BF5A-486C-A8C5-ECC9F3942E4B}">
                <a14:imgProps xmlns:a14="http://schemas.microsoft.com/office/drawing/2010/main">
                  <a14:imgLayer r:embed="rId6">
                    <a14:imgEffect>
                      <a14:saturation sat="33000"/>
                    </a14:imgEffect>
                  </a14:imgLayer>
                </a14:imgProps>
              </a:ext>
            </a:extLst>
          </a:blip>
          <a:srcRect/>
          <a:stretch/>
        </p:blipFill>
        <p:spPr>
          <a:xfrm>
            <a:off x="0" y="4191018"/>
            <a:ext cx="2666947" cy="2666947"/>
          </a:xfrm>
          <a:prstGeom prst="rect">
            <a:avLst/>
          </a:prstGeom>
        </p:spPr>
      </p:pic>
      <p:sp>
        <p:nvSpPr>
          <p:cNvPr id="6" name="Text 1"/>
          <p:cNvSpPr/>
          <p:nvPr/>
        </p:nvSpPr>
        <p:spPr>
          <a:xfrm>
            <a:off x="820433" y="1076130"/>
            <a:ext cx="2735550" cy="256527"/>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chemeClr val="accent5"/>
                </a:solidFill>
                <a:latin typeface="Arial" pitchFamily="34" charset="0"/>
                <a:ea typeface="Arial" pitchFamily="34" charset="-122"/>
                <a:cs typeface="Arial" pitchFamily="34" charset="-120"/>
              </a:rPr>
              <a:t>SENA · ADSO-27 · GRUPO 1</a:t>
            </a:r>
            <a:endParaRPr lang="en-US" sz="1300" dirty="0">
              <a:solidFill>
                <a:schemeClr val="accent5"/>
              </a:solidFill>
            </a:endParaRPr>
          </a:p>
        </p:txBody>
      </p:sp>
      <p:sp>
        <p:nvSpPr>
          <p:cNvPr id="7" name="Text 2"/>
          <p:cNvSpPr/>
          <p:nvPr/>
        </p:nvSpPr>
        <p:spPr>
          <a:xfrm>
            <a:off x="787418" y="1425169"/>
            <a:ext cx="5172511" cy="745445"/>
          </a:xfrm>
          <a:prstGeom prst="rect">
            <a:avLst/>
          </a:prstGeom>
          <a:noFill/>
          <a:ln/>
        </p:spPr>
        <p:txBody>
          <a:bodyPr wrap="square" lIns="0" tIns="0" rIns="0" bIns="0" rtlCol="0" anchor="t">
            <a:normAutofit/>
          </a:bodyPr>
          <a:lstStyle/>
          <a:p>
            <a:pPr marL="0" indent="0" algn="l">
              <a:lnSpc>
                <a:spcPts val="5670"/>
              </a:lnSpc>
              <a:buNone/>
            </a:pPr>
            <a:r>
              <a:rPr lang="en-US" sz="5400" b="1" dirty="0">
                <a:solidFill>
                  <a:srgbClr val="F6F3FF"/>
                </a:solidFill>
                <a:latin typeface="Arial" pitchFamily="34" charset="0"/>
                <a:ea typeface="Arial" pitchFamily="34" charset="-122"/>
                <a:cs typeface="Arial" pitchFamily="34" charset="-120"/>
              </a:rPr>
              <a:t>Galapa </a:t>
            </a:r>
            <a:r>
              <a:rPr lang="en-US" sz="5400" b="1" dirty="0">
                <a:solidFill>
                  <a:schemeClr val="accent5"/>
                </a:solidFill>
                <a:latin typeface="Arial" pitchFamily="34" charset="0"/>
                <a:ea typeface="Arial" pitchFamily="34" charset="-122"/>
                <a:cs typeface="Arial" pitchFamily="34" charset="-120"/>
              </a:rPr>
              <a:t>Express</a:t>
            </a:r>
            <a:endParaRPr lang="en-US" sz="5400" dirty="0">
              <a:solidFill>
                <a:schemeClr val="accent5"/>
              </a:solidFill>
            </a:endParaRPr>
          </a:p>
        </p:txBody>
      </p:sp>
      <p:sp>
        <p:nvSpPr>
          <p:cNvPr id="8" name="Text 3"/>
          <p:cNvSpPr/>
          <p:nvPr/>
        </p:nvSpPr>
        <p:spPr>
          <a:xfrm>
            <a:off x="787418" y="2296320"/>
            <a:ext cx="7848600" cy="629748"/>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D8CFFB"/>
                </a:solidFill>
                <a:latin typeface="Arial" pitchFamily="34" charset="0"/>
                <a:ea typeface="Arial" pitchFamily="34" charset="-122"/>
                <a:cs typeface="Arial" pitchFamily="34" charset="-120"/>
              </a:rPr>
              <a:t>Sistema de gestión para tienda de abarrotes — productos, clientes y ventas en un solo lugar.</a:t>
            </a:r>
            <a:endParaRPr lang="en-US" sz="1700" dirty="0"/>
          </a:p>
        </p:txBody>
      </p:sp>
      <p:pic>
        <p:nvPicPr>
          <p:cNvPr id="9" name="Image 3" descr="Users"/>
          <p:cNvPicPr>
            <a:picLocks noChangeAspect="1"/>
          </p:cNvPicPr>
          <p:nvPr/>
        </p:nvPicPr>
        <p:blipFill>
          <a:blip r:embed="rId7"/>
          <a:srcRect/>
          <a:stretch/>
        </p:blipFill>
        <p:spPr>
          <a:xfrm>
            <a:off x="812796" y="5346828"/>
            <a:ext cx="190465" cy="190465"/>
          </a:xfrm>
          <a:prstGeom prst="rect">
            <a:avLst/>
          </a:prstGeom>
        </p:spPr>
      </p:pic>
      <p:sp>
        <p:nvSpPr>
          <p:cNvPr id="10" name="Text 4"/>
          <p:cNvSpPr/>
          <p:nvPr/>
        </p:nvSpPr>
        <p:spPr>
          <a:xfrm>
            <a:off x="1092115" y="5335400"/>
            <a:ext cx="1212900"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chemeClr val="bg1"/>
                </a:solidFill>
                <a:latin typeface="Arial" pitchFamily="34" charset="0"/>
                <a:ea typeface="Arial" pitchFamily="34" charset="-122"/>
                <a:cs typeface="Arial" pitchFamily="34" charset="-120"/>
              </a:rPr>
              <a:t>INTEGRANTES</a:t>
            </a:r>
            <a:endParaRPr lang="en-US" sz="1200" dirty="0">
              <a:solidFill>
                <a:schemeClr val="bg1"/>
              </a:solidFill>
            </a:endParaRPr>
          </a:p>
        </p:txBody>
      </p:sp>
      <p:sp>
        <p:nvSpPr>
          <p:cNvPr id="11" name="Shape 5"/>
          <p:cNvSpPr/>
          <p:nvPr/>
        </p:nvSpPr>
        <p:spPr>
          <a:xfrm>
            <a:off x="812796" y="5662999"/>
            <a:ext cx="1605661" cy="382169"/>
          </a:xfrm>
          <a:prstGeom prst="roundRect">
            <a:avLst>
              <a:gd name="adj" fmla="val 50000"/>
            </a:avLst>
          </a:prstGeom>
          <a:solidFill>
            <a:srgbClr val="FFFFFF">
              <a:alpha val="8000"/>
            </a:srgbClr>
          </a:solidFill>
          <a:ln/>
        </p:spPr>
        <p:txBody>
          <a:bodyPr/>
          <a:lstStyle/>
          <a:p>
            <a:endParaRPr lang="es-CO"/>
          </a:p>
        </p:txBody>
      </p:sp>
      <p:sp>
        <p:nvSpPr>
          <p:cNvPr id="12" name="Text 6"/>
          <p:cNvSpPr/>
          <p:nvPr/>
        </p:nvSpPr>
        <p:spPr>
          <a:xfrm>
            <a:off x="990593" y="5751853"/>
            <a:ext cx="1300868" cy="229862"/>
          </a:xfrm>
          <a:prstGeom prst="rect">
            <a:avLst/>
          </a:prstGeom>
          <a:noFill/>
          <a:ln/>
        </p:spPr>
        <p:txBody>
          <a:bodyPr wrap="square" lIns="0" tIns="0" rIns="0" bIns="0" rtlCol="0" anchor="t">
            <a:normAutofit/>
          </a:bodyPr>
          <a:lstStyle/>
          <a:p>
            <a:pPr marL="0" indent="0" algn="l">
              <a:lnSpc>
                <a:spcPts val="1610"/>
              </a:lnSpc>
              <a:buNone/>
            </a:pPr>
            <a:r>
              <a:rPr lang="en-US" sz="1150" dirty="0">
                <a:solidFill>
                  <a:srgbClr val="F6F3FF"/>
                </a:solidFill>
                <a:latin typeface="Arial" pitchFamily="34" charset="0"/>
                <a:ea typeface="Arial" pitchFamily="34" charset="-122"/>
                <a:cs typeface="Arial" pitchFamily="34" charset="-120"/>
              </a:rPr>
              <a:t>Elías Mojica · Líder</a:t>
            </a:r>
            <a:endParaRPr lang="en-US" sz="1150" dirty="0"/>
          </a:p>
        </p:txBody>
      </p:sp>
      <p:sp>
        <p:nvSpPr>
          <p:cNvPr id="13" name="Shape 7"/>
          <p:cNvSpPr/>
          <p:nvPr/>
        </p:nvSpPr>
        <p:spPr>
          <a:xfrm>
            <a:off x="2507311" y="5662999"/>
            <a:ext cx="1508302" cy="382169"/>
          </a:xfrm>
          <a:prstGeom prst="roundRect">
            <a:avLst>
              <a:gd name="adj" fmla="val 50000"/>
            </a:avLst>
          </a:prstGeom>
          <a:solidFill>
            <a:srgbClr val="FFFFFF">
              <a:alpha val="8000"/>
            </a:srgbClr>
          </a:solidFill>
          <a:ln/>
        </p:spPr>
        <p:txBody>
          <a:bodyPr/>
          <a:lstStyle/>
          <a:p>
            <a:endParaRPr lang="es-CO"/>
          </a:p>
        </p:txBody>
      </p:sp>
      <p:sp>
        <p:nvSpPr>
          <p:cNvPr id="14" name="Text 8"/>
          <p:cNvSpPr/>
          <p:nvPr/>
        </p:nvSpPr>
        <p:spPr>
          <a:xfrm>
            <a:off x="2685107" y="5751853"/>
            <a:ext cx="1203509" cy="229862"/>
          </a:xfrm>
          <a:prstGeom prst="rect">
            <a:avLst/>
          </a:prstGeom>
          <a:noFill/>
          <a:ln/>
        </p:spPr>
        <p:txBody>
          <a:bodyPr wrap="square" lIns="0" tIns="0" rIns="0" bIns="0" rtlCol="0" anchor="t">
            <a:normAutofit/>
          </a:bodyPr>
          <a:lstStyle/>
          <a:p>
            <a:pPr marL="0" indent="0" algn="l">
              <a:lnSpc>
                <a:spcPts val="1610"/>
              </a:lnSpc>
              <a:buNone/>
            </a:pPr>
            <a:r>
              <a:rPr lang="en-US" sz="1150" dirty="0">
                <a:solidFill>
                  <a:srgbClr val="F6F3FF"/>
                </a:solidFill>
                <a:latin typeface="Arial" pitchFamily="34" charset="0"/>
                <a:ea typeface="Arial" pitchFamily="34" charset="-122"/>
                <a:cs typeface="Arial" pitchFamily="34" charset="-120"/>
              </a:rPr>
              <a:t>Cristian de la Hoz</a:t>
            </a:r>
            <a:endParaRPr lang="en-US" sz="1150" dirty="0"/>
          </a:p>
        </p:txBody>
      </p:sp>
      <p:sp>
        <p:nvSpPr>
          <p:cNvPr id="15" name="Shape 9"/>
          <p:cNvSpPr/>
          <p:nvPr/>
        </p:nvSpPr>
        <p:spPr>
          <a:xfrm>
            <a:off x="4104467" y="5662999"/>
            <a:ext cx="1207900" cy="382169"/>
          </a:xfrm>
          <a:prstGeom prst="roundRect">
            <a:avLst>
              <a:gd name="adj" fmla="val 50000"/>
            </a:avLst>
          </a:prstGeom>
          <a:solidFill>
            <a:srgbClr val="FFFFFF">
              <a:alpha val="8000"/>
            </a:srgbClr>
          </a:solidFill>
          <a:ln/>
        </p:spPr>
        <p:txBody>
          <a:bodyPr/>
          <a:lstStyle/>
          <a:p>
            <a:endParaRPr lang="es-CO"/>
          </a:p>
        </p:txBody>
      </p:sp>
      <p:sp>
        <p:nvSpPr>
          <p:cNvPr id="16" name="Text 10"/>
          <p:cNvSpPr/>
          <p:nvPr/>
        </p:nvSpPr>
        <p:spPr>
          <a:xfrm>
            <a:off x="4282263" y="5751853"/>
            <a:ext cx="903107" cy="229862"/>
          </a:xfrm>
          <a:prstGeom prst="rect">
            <a:avLst/>
          </a:prstGeom>
          <a:noFill/>
          <a:ln/>
        </p:spPr>
        <p:txBody>
          <a:bodyPr wrap="square" lIns="0" tIns="0" rIns="0" bIns="0" rtlCol="0" anchor="t">
            <a:normAutofit/>
          </a:bodyPr>
          <a:lstStyle/>
          <a:p>
            <a:pPr marL="0" indent="0" algn="l">
              <a:lnSpc>
                <a:spcPts val="1610"/>
              </a:lnSpc>
              <a:buNone/>
            </a:pPr>
            <a:r>
              <a:rPr lang="en-US" sz="1150" dirty="0">
                <a:solidFill>
                  <a:srgbClr val="F6F3FF"/>
                </a:solidFill>
                <a:latin typeface="Arial" pitchFamily="34" charset="0"/>
                <a:ea typeface="Arial" pitchFamily="34" charset="-122"/>
                <a:cs typeface="Arial" pitchFamily="34" charset="-120"/>
              </a:rPr>
              <a:t>Jesús Castro</a:t>
            </a:r>
            <a:endParaRPr lang="en-US" sz="1150" dirty="0"/>
          </a:p>
        </p:txBody>
      </p:sp>
      <p:sp>
        <p:nvSpPr>
          <p:cNvPr id="17" name="Shape 11"/>
          <p:cNvSpPr/>
          <p:nvPr/>
        </p:nvSpPr>
        <p:spPr>
          <a:xfrm>
            <a:off x="5401221" y="5662999"/>
            <a:ext cx="1070234" cy="382169"/>
          </a:xfrm>
          <a:prstGeom prst="roundRect">
            <a:avLst>
              <a:gd name="adj" fmla="val 50000"/>
            </a:avLst>
          </a:prstGeom>
          <a:solidFill>
            <a:srgbClr val="FFFFFF">
              <a:alpha val="8000"/>
            </a:srgbClr>
          </a:solidFill>
          <a:ln/>
        </p:spPr>
        <p:txBody>
          <a:bodyPr/>
          <a:lstStyle/>
          <a:p>
            <a:endParaRPr lang="es-CO"/>
          </a:p>
        </p:txBody>
      </p:sp>
      <p:sp>
        <p:nvSpPr>
          <p:cNvPr id="18" name="Text 12"/>
          <p:cNvSpPr/>
          <p:nvPr/>
        </p:nvSpPr>
        <p:spPr>
          <a:xfrm>
            <a:off x="5579017" y="5751853"/>
            <a:ext cx="765441" cy="229862"/>
          </a:xfrm>
          <a:prstGeom prst="rect">
            <a:avLst/>
          </a:prstGeom>
          <a:noFill/>
          <a:ln/>
        </p:spPr>
        <p:txBody>
          <a:bodyPr wrap="square" lIns="0" tIns="0" rIns="0" bIns="0" rtlCol="0" anchor="t">
            <a:normAutofit/>
          </a:bodyPr>
          <a:lstStyle/>
          <a:p>
            <a:pPr marL="0" indent="0" algn="l">
              <a:lnSpc>
                <a:spcPts val="1610"/>
              </a:lnSpc>
              <a:buNone/>
            </a:pPr>
            <a:r>
              <a:rPr lang="en-US" sz="1150" dirty="0">
                <a:solidFill>
                  <a:srgbClr val="F6F3FF"/>
                </a:solidFill>
                <a:latin typeface="Arial" pitchFamily="34" charset="0"/>
                <a:ea typeface="Arial" pitchFamily="34" charset="-122"/>
                <a:cs typeface="Arial" pitchFamily="34" charset="-120"/>
              </a:rPr>
              <a:t>Iared Peña</a:t>
            </a:r>
            <a:endParaRPr lang="en-US" sz="1150" dirty="0"/>
          </a:p>
        </p:txBody>
      </p:sp>
      <p:sp>
        <p:nvSpPr>
          <p:cNvPr id="19" name="Shape 13"/>
          <p:cNvSpPr/>
          <p:nvPr/>
        </p:nvSpPr>
        <p:spPr>
          <a:xfrm>
            <a:off x="6560308" y="5662999"/>
            <a:ext cx="1264951" cy="382169"/>
          </a:xfrm>
          <a:prstGeom prst="roundRect">
            <a:avLst>
              <a:gd name="adj" fmla="val 50000"/>
            </a:avLst>
          </a:prstGeom>
          <a:solidFill>
            <a:srgbClr val="FFFFFF">
              <a:alpha val="8000"/>
            </a:srgbClr>
          </a:solidFill>
          <a:ln/>
        </p:spPr>
        <p:txBody>
          <a:bodyPr/>
          <a:lstStyle/>
          <a:p>
            <a:endParaRPr lang="es-CO"/>
          </a:p>
        </p:txBody>
      </p:sp>
      <p:sp>
        <p:nvSpPr>
          <p:cNvPr id="20" name="Text 14"/>
          <p:cNvSpPr/>
          <p:nvPr/>
        </p:nvSpPr>
        <p:spPr>
          <a:xfrm>
            <a:off x="6738105" y="5751853"/>
            <a:ext cx="960158" cy="229862"/>
          </a:xfrm>
          <a:prstGeom prst="rect">
            <a:avLst/>
          </a:prstGeom>
          <a:noFill/>
          <a:ln/>
        </p:spPr>
        <p:txBody>
          <a:bodyPr wrap="square" lIns="0" tIns="0" rIns="0" bIns="0" rtlCol="0" anchor="t">
            <a:normAutofit/>
          </a:bodyPr>
          <a:lstStyle/>
          <a:p>
            <a:pPr marL="0" indent="0" algn="l">
              <a:lnSpc>
                <a:spcPts val="1610"/>
              </a:lnSpc>
              <a:buNone/>
            </a:pPr>
            <a:r>
              <a:rPr lang="en-US" sz="1150" dirty="0">
                <a:solidFill>
                  <a:srgbClr val="F6F3FF"/>
                </a:solidFill>
                <a:latin typeface="Arial" pitchFamily="34" charset="0"/>
                <a:ea typeface="Arial" pitchFamily="34" charset="-122"/>
                <a:cs typeface="Arial" pitchFamily="34" charset="-120"/>
              </a:rPr>
              <a:t>Keiner Manga</a:t>
            </a:r>
            <a:endParaRPr lang="en-US" sz="1150" dirty="0"/>
          </a:p>
        </p:txBody>
      </p:sp>
      <p:pic>
        <p:nvPicPr>
          <p:cNvPr id="22" name="Imagen 21">
            <a:extLst>
              <a:ext uri="{FF2B5EF4-FFF2-40B4-BE49-F238E27FC236}">
                <a16:creationId xmlns:a16="http://schemas.microsoft.com/office/drawing/2014/main" id="{B2D8A20E-9B20-BBD3-CE68-19879EB5B342}"/>
              </a:ext>
            </a:extLst>
          </p:cNvPr>
          <p:cNvPicPr>
            <a:picLocks noChangeAspect="1"/>
          </p:cNvPicPr>
          <p:nvPr/>
        </p:nvPicPr>
        <p:blipFill>
          <a:blip r:embed="rId8"/>
          <a:stretch>
            <a:fillRect/>
          </a:stretch>
        </p:blipFill>
        <p:spPr>
          <a:xfrm>
            <a:off x="11146459" y="5866784"/>
            <a:ext cx="838714" cy="82194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FF"/>
        </a:solidFill>
        <a:effectLst/>
      </p:bgPr>
    </p:bg>
    <p:spTree>
      <p:nvGrpSpPr>
        <p:cNvPr id="1" name=""/>
        <p:cNvGrpSpPr/>
        <p:nvPr/>
      </p:nvGrpSpPr>
      <p:grpSpPr>
        <a:xfrm>
          <a:off x="0" y="0"/>
          <a:ext cx="0" cy="0"/>
          <a:chOff x="0" y="0"/>
          <a:chExt cx="0" cy="0"/>
        </a:xfrm>
      </p:grpSpPr>
      <p:pic>
        <p:nvPicPr>
          <p:cNvPr id="2" name="Image 0" descr="Lightbulb"/>
          <p:cNvPicPr>
            <a:picLocks noChangeAspect="1"/>
          </p:cNvPicPr>
          <p:nvPr/>
        </p:nvPicPr>
        <p:blipFill>
          <a:blip r:embed="rId3"/>
          <a:srcRect/>
          <a:stretch/>
        </p:blipFill>
        <p:spPr>
          <a:xfrm>
            <a:off x="812796" y="1911467"/>
            <a:ext cx="279318" cy="279318"/>
          </a:xfrm>
          <a:prstGeom prst="rect">
            <a:avLst/>
          </a:prstGeom>
        </p:spPr>
      </p:pic>
      <p:sp>
        <p:nvSpPr>
          <p:cNvPr id="3" name="Text 0"/>
          <p:cNvSpPr/>
          <p:nvPr/>
        </p:nvSpPr>
        <p:spPr>
          <a:xfrm>
            <a:off x="1193637" y="1832092"/>
            <a:ext cx="1802489" cy="463557"/>
          </a:xfrm>
          <a:prstGeom prst="rect">
            <a:avLst/>
          </a:prstGeom>
          <a:noFill/>
          <a:ln/>
        </p:spPr>
        <p:txBody>
          <a:bodyPr wrap="square" lIns="0" tIns="0" rIns="0" bIns="0" rtlCol="0" anchor="t">
            <a:normAutofit/>
          </a:bodyPr>
          <a:lstStyle/>
          <a:p>
            <a:pPr marL="0" indent="0" algn="l">
              <a:lnSpc>
                <a:spcPts val="3450"/>
              </a:lnSpc>
              <a:buNone/>
            </a:pPr>
            <a:r>
              <a:rPr lang="en-US" sz="3000" b="1" dirty="0">
                <a:solidFill>
                  <a:srgbClr val="1D1830"/>
                </a:solidFill>
                <a:latin typeface="Arial" pitchFamily="34" charset="0"/>
                <a:cs typeface="Arial" pitchFamily="34" charset="-120"/>
              </a:rPr>
              <a:t>Problema</a:t>
            </a:r>
            <a:endParaRPr lang="en-US" sz="3000" dirty="0"/>
          </a:p>
        </p:txBody>
      </p:sp>
      <p:sp>
        <p:nvSpPr>
          <p:cNvPr id="4" name="Text 1"/>
          <p:cNvSpPr/>
          <p:nvPr/>
        </p:nvSpPr>
        <p:spPr>
          <a:xfrm>
            <a:off x="812796" y="2524231"/>
            <a:ext cx="9156700" cy="994576"/>
          </a:xfrm>
          <a:prstGeom prst="rect">
            <a:avLst/>
          </a:prstGeom>
          <a:noFill/>
          <a:ln/>
        </p:spPr>
        <p:txBody>
          <a:bodyPr wrap="square" lIns="0" tIns="0" rIns="0" bIns="0" rtlCol="0" anchor="t">
            <a:noAutofit/>
          </a:bodyPr>
          <a:lstStyle/>
          <a:p>
            <a:r>
              <a:rPr lang="es-ES" sz="1600" b="1" dirty="0">
                <a:solidFill>
                  <a:schemeClr val="accent1">
                    <a:lumMod val="75000"/>
                  </a:schemeClr>
                </a:solidFill>
              </a:rPr>
              <a:t>En una tienda de abarrotes se manejan muchos productos, clientes y ventas. Si estos procesos se hacen manualmente, puede ser difícil mantener la información organizada y consultar los datos rápidamente.</a:t>
            </a:r>
            <a:endParaRPr lang="es-CO" sz="1600" b="1" dirty="0">
              <a:solidFill>
                <a:schemeClr val="accent1">
                  <a:lumMod val="75000"/>
                </a:schemeClr>
              </a:solidFill>
            </a:endParaRPr>
          </a:p>
        </p:txBody>
      </p:sp>
      <p:grpSp>
        <p:nvGrpSpPr>
          <p:cNvPr id="18" name="Grupo 17">
            <a:extLst>
              <a:ext uri="{FF2B5EF4-FFF2-40B4-BE49-F238E27FC236}">
                <a16:creationId xmlns:a16="http://schemas.microsoft.com/office/drawing/2014/main" id="{F10D5F34-2FB1-DC55-4DDD-2A8D5D29344F}"/>
              </a:ext>
            </a:extLst>
          </p:cNvPr>
          <p:cNvGrpSpPr/>
          <p:nvPr/>
        </p:nvGrpSpPr>
        <p:grpSpPr>
          <a:xfrm>
            <a:off x="713332" y="3535610"/>
            <a:ext cx="5194279" cy="2782528"/>
            <a:chOff x="812796" y="3387878"/>
            <a:chExt cx="5194279" cy="1434863"/>
          </a:xfrm>
        </p:grpSpPr>
        <p:sp>
          <p:nvSpPr>
            <p:cNvPr id="5" name="Shape 2"/>
            <p:cNvSpPr/>
            <p:nvPr/>
          </p:nvSpPr>
          <p:spPr>
            <a:xfrm>
              <a:off x="812796" y="3387878"/>
              <a:ext cx="5194279" cy="1434863"/>
            </a:xfrm>
            <a:prstGeom prst="roundRect">
              <a:avLst>
                <a:gd name="adj" fmla="val 8851"/>
              </a:avLst>
            </a:prstGeom>
            <a:solidFill>
              <a:srgbClr val="FFFFFF"/>
            </a:solidFill>
            <a:ln/>
            <a:effectLst>
              <a:outerShdw blurRad="152400" dist="25400" dir="5400000" algn="bl" rotWithShape="0">
                <a:srgbClr val="000000">
                  <a:alpha val="6000"/>
                </a:srgbClr>
              </a:outerShdw>
            </a:effectLst>
          </p:spPr>
          <p:txBody>
            <a:bodyPr/>
            <a:lstStyle/>
            <a:p>
              <a:endParaRPr lang="es-CO"/>
            </a:p>
          </p:txBody>
        </p:sp>
        <p:pic>
          <p:nvPicPr>
            <p:cNvPr id="6" name="Image 1" descr="CheckCircle"/>
            <p:cNvPicPr>
              <a:picLocks noChangeAspect="1"/>
            </p:cNvPicPr>
            <p:nvPr/>
          </p:nvPicPr>
          <p:blipFill>
            <a:blip r:embed="rId4"/>
            <a:srcRect/>
            <a:stretch/>
          </p:blipFill>
          <p:spPr>
            <a:xfrm>
              <a:off x="940899" y="3445466"/>
              <a:ext cx="312045" cy="159651"/>
            </a:xfrm>
            <a:prstGeom prst="rect">
              <a:avLst/>
            </a:prstGeom>
          </p:spPr>
        </p:pic>
        <p:sp>
          <p:nvSpPr>
            <p:cNvPr id="7" name="Text 3"/>
            <p:cNvSpPr/>
            <p:nvPr/>
          </p:nvSpPr>
          <p:spPr>
            <a:xfrm>
              <a:off x="1025707" y="3631476"/>
              <a:ext cx="1585707" cy="152227"/>
            </a:xfrm>
            <a:prstGeom prst="rect">
              <a:avLst/>
            </a:prstGeom>
            <a:noFill/>
            <a:ln/>
          </p:spPr>
          <p:txBody>
            <a:bodyPr wrap="square" lIns="0" tIns="0" rIns="0" bIns="0" rtlCol="0" anchor="t">
              <a:normAutofit/>
            </a:bodyPr>
            <a:lstStyle/>
            <a:p>
              <a:pPr>
                <a:lnSpc>
                  <a:spcPts val="1800"/>
                </a:lnSpc>
              </a:pPr>
              <a:r>
                <a:rPr lang="en-US" sz="1500" b="1" dirty="0">
                  <a:solidFill>
                    <a:srgbClr val="1D1830"/>
                  </a:solidFill>
                  <a:latin typeface="Arial" pitchFamily="34" charset="0"/>
                  <a:ea typeface="Arial" pitchFamily="34" charset="-122"/>
                  <a:cs typeface="Arial" pitchFamily="34" charset="-120"/>
                </a:rPr>
                <a:t>Objetivo general</a:t>
              </a:r>
              <a:endParaRPr lang="en-US" sz="1500" dirty="0"/>
            </a:p>
          </p:txBody>
        </p:sp>
        <p:sp>
          <p:nvSpPr>
            <p:cNvPr id="8" name="Text 4"/>
            <p:cNvSpPr/>
            <p:nvPr/>
          </p:nvSpPr>
          <p:spPr>
            <a:xfrm>
              <a:off x="1025707" y="3796621"/>
              <a:ext cx="4826903" cy="854749"/>
            </a:xfrm>
            <a:prstGeom prst="rect">
              <a:avLst/>
            </a:prstGeom>
            <a:noFill/>
            <a:ln/>
          </p:spPr>
          <p:txBody>
            <a:bodyPr wrap="square" lIns="0" tIns="0" rIns="0" bIns="0" rtlCol="0" anchor="t">
              <a:normAutofit/>
            </a:bodyPr>
            <a:lstStyle/>
            <a:p>
              <a:pPr>
                <a:lnSpc>
                  <a:spcPts val="1750"/>
                </a:lnSpc>
              </a:pPr>
              <a:r>
                <a:rPr lang="es-CO" sz="1250" dirty="0">
                  <a:solidFill>
                    <a:srgbClr val="4A4370"/>
                  </a:solidFill>
                  <a:latin typeface="Arial" pitchFamily="34" charset="0"/>
                  <a:cs typeface="Arial" pitchFamily="34" charset="-120"/>
                </a:rPr>
                <a:t>Desarrollar un sistema para una tienda de abarrotes que permita gestionar de manera organizada y eficiente los productos, clientes, usuarios, compras y ventas, facilitando el registro, almacenamiento y consulta de la información. Además, se busca mejorar el control de las operaciones de la tienda, haciendo que procesos como la selección de productos, realización de compras, registro de ventas y consulta del historial sean más rápidos, sencillos y ordenados.</a:t>
              </a:r>
              <a:endParaRPr lang="en-US" sz="1250" dirty="0">
                <a:solidFill>
                  <a:srgbClr val="4A4370"/>
                </a:solidFill>
                <a:latin typeface="Arial" pitchFamily="34" charset="0"/>
                <a:cs typeface="Arial" pitchFamily="34" charset="-120"/>
              </a:endParaRPr>
            </a:p>
          </p:txBody>
        </p:sp>
      </p:grpSp>
      <p:sp>
        <p:nvSpPr>
          <p:cNvPr id="9" name="Shape 5"/>
          <p:cNvSpPr/>
          <p:nvPr/>
        </p:nvSpPr>
        <p:spPr>
          <a:xfrm>
            <a:off x="6071478" y="3518806"/>
            <a:ext cx="5194279" cy="2816679"/>
          </a:xfrm>
          <a:prstGeom prst="roundRect">
            <a:avLst>
              <a:gd name="adj" fmla="val 8851"/>
            </a:avLst>
          </a:prstGeom>
          <a:solidFill>
            <a:srgbClr val="FFFFFF"/>
          </a:solidFill>
          <a:ln/>
          <a:effectLst>
            <a:outerShdw blurRad="152400" dist="25400" dir="5400000" algn="bl" rotWithShape="0">
              <a:srgbClr val="000000">
                <a:alpha val="6000"/>
              </a:srgbClr>
            </a:outerShdw>
          </a:effectLst>
        </p:spPr>
        <p:txBody>
          <a:bodyPr/>
          <a:lstStyle/>
          <a:p>
            <a:endParaRPr lang="es-CO" dirty="0"/>
          </a:p>
        </p:txBody>
      </p:sp>
      <p:pic>
        <p:nvPicPr>
          <p:cNvPr id="10" name="Image 2" descr="Globe"/>
          <p:cNvPicPr>
            <a:picLocks noChangeAspect="1"/>
          </p:cNvPicPr>
          <p:nvPr/>
        </p:nvPicPr>
        <p:blipFill>
          <a:blip r:embed="rId5"/>
          <a:srcRect/>
          <a:stretch/>
        </p:blipFill>
        <p:spPr>
          <a:xfrm>
            <a:off x="6309544" y="3696670"/>
            <a:ext cx="313011" cy="310595"/>
          </a:xfrm>
          <a:prstGeom prst="rect">
            <a:avLst/>
          </a:prstGeom>
        </p:spPr>
      </p:pic>
      <p:sp>
        <p:nvSpPr>
          <p:cNvPr id="11" name="Text 6"/>
          <p:cNvSpPr/>
          <p:nvPr/>
        </p:nvSpPr>
        <p:spPr>
          <a:xfrm>
            <a:off x="6309544" y="4069937"/>
            <a:ext cx="2018440" cy="250616"/>
          </a:xfrm>
          <a:prstGeom prst="rect">
            <a:avLst/>
          </a:prstGeom>
          <a:noFill/>
          <a:ln/>
        </p:spPr>
        <p:txBody>
          <a:bodyPr wrap="square" lIns="0" tIns="0" rIns="0" bIns="0" rtlCol="0" anchor="t">
            <a:normAutofit/>
          </a:bodyPr>
          <a:lstStyle/>
          <a:p>
            <a:pPr>
              <a:lnSpc>
                <a:spcPts val="1800"/>
              </a:lnSpc>
            </a:pPr>
            <a:r>
              <a:rPr lang="en-US" sz="1500" b="1" dirty="0">
                <a:solidFill>
                  <a:srgbClr val="1D1830"/>
                </a:solidFill>
                <a:latin typeface="Arial" pitchFamily="34" charset="0"/>
                <a:ea typeface="Arial" pitchFamily="34" charset="-122"/>
                <a:cs typeface="Arial" pitchFamily="34" charset="-120"/>
              </a:rPr>
              <a:t>Objetivos específicos</a:t>
            </a:r>
            <a:endParaRPr lang="en-US" sz="1500" dirty="0"/>
          </a:p>
        </p:txBody>
      </p:sp>
      <p:sp>
        <p:nvSpPr>
          <p:cNvPr id="12" name="Text 7"/>
          <p:cNvSpPr/>
          <p:nvPr/>
        </p:nvSpPr>
        <p:spPr>
          <a:xfrm>
            <a:off x="6309544" y="4347986"/>
            <a:ext cx="4826903" cy="1660928"/>
          </a:xfrm>
          <a:prstGeom prst="rect">
            <a:avLst/>
          </a:prstGeom>
          <a:noFill/>
          <a:ln/>
        </p:spPr>
        <p:txBody>
          <a:bodyPr wrap="square" lIns="0" tIns="0" rIns="0" bIns="0" rtlCol="0" anchor="t">
            <a:normAutofit/>
          </a:bodyPr>
          <a:lstStyle/>
          <a:p>
            <a:pPr>
              <a:lnSpc>
                <a:spcPts val="1750"/>
              </a:lnSpc>
            </a:pPr>
            <a:r>
              <a:rPr lang="es-ES" sz="1250" dirty="0">
                <a:solidFill>
                  <a:srgbClr val="4A4370"/>
                </a:solidFill>
                <a:latin typeface="Arial" pitchFamily="34" charset="0"/>
                <a:ea typeface="Arial" pitchFamily="34" charset="-122"/>
                <a:cs typeface="Arial" pitchFamily="34" charset="-120"/>
              </a:rPr>
              <a:t>Permitir el registro y administración de los productos disponibles en la tienda.Registrar y gestionar la información de los clientes y usuarios del sistema.Facilitar el proceso de compra mediante un carrito de productos.Registrar las ventas realizadas y almacenar su información.Permitir consultar el historial de compras y ventas realizadas.Organizar la información mediante una base de datos para facilitar su almacenamiento y consulta.</a:t>
            </a:r>
            <a:endParaRPr lang="en-US" sz="1250" dirty="0"/>
          </a:p>
        </p:txBody>
      </p:sp>
      <p:sp>
        <p:nvSpPr>
          <p:cNvPr id="13" name="Text 8"/>
          <p:cNvSpPr/>
          <p:nvPr/>
        </p:nvSpPr>
        <p:spPr>
          <a:xfrm>
            <a:off x="812796" y="6256097"/>
            <a:ext cx="2183330" cy="220914"/>
          </a:xfrm>
          <a:prstGeom prst="rect">
            <a:avLst/>
          </a:prstGeom>
          <a:noFill/>
          <a:ln/>
        </p:spPr>
        <p:txBody>
          <a:bodyPr wrap="square" lIns="0" tIns="0" rIns="0" bIns="0" rtlCol="0" anchor="t">
            <a:normAutofit/>
          </a:bodyPr>
          <a:lstStyle/>
          <a:p>
            <a:pPr marL="0" indent="0" algn="l">
              <a:lnSpc>
                <a:spcPts val="1540"/>
              </a:lnSpc>
              <a:buNone/>
            </a:pPr>
            <a:endParaRPr lang="en-US" sz="1100" dirty="0"/>
          </a:p>
        </p:txBody>
      </p:sp>
      <p:pic>
        <p:nvPicPr>
          <p:cNvPr id="23" name="Imagen 22">
            <a:extLst>
              <a:ext uri="{FF2B5EF4-FFF2-40B4-BE49-F238E27FC236}">
                <a16:creationId xmlns:a16="http://schemas.microsoft.com/office/drawing/2014/main" id="{946B799B-4E96-21A7-8057-68B59D671181}"/>
              </a:ext>
            </a:extLst>
          </p:cNvPr>
          <p:cNvPicPr>
            <a:picLocks noChangeAspect="1"/>
          </p:cNvPicPr>
          <p:nvPr/>
        </p:nvPicPr>
        <p:blipFill>
          <a:blip r:embed="rId6"/>
          <a:stretch>
            <a:fillRect/>
          </a:stretch>
        </p:blipFill>
        <p:spPr>
          <a:xfrm>
            <a:off x="11265757" y="106136"/>
            <a:ext cx="827314" cy="81076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chemeClr val="accent1">
            <a:lumMod val="75000"/>
          </a:schemeClr>
        </a:solidFill>
        <a:effectLst/>
      </p:bgPr>
    </p:bg>
    <p:spTree>
      <p:nvGrpSpPr>
        <p:cNvPr id="1" name=""/>
        <p:cNvGrpSpPr/>
        <p:nvPr/>
      </p:nvGrpSpPr>
      <p:grpSpPr>
        <a:xfrm>
          <a:off x="0" y="0"/>
          <a:ext cx="0" cy="0"/>
          <a:chOff x="0" y="0"/>
          <a:chExt cx="0" cy="0"/>
        </a:xfrm>
      </p:grpSpPr>
      <p:pic>
        <p:nvPicPr>
          <p:cNvPr id="2" name="Image 0" descr="Code"/>
          <p:cNvPicPr>
            <a:picLocks noChangeAspect="1"/>
          </p:cNvPicPr>
          <p:nvPr/>
        </p:nvPicPr>
        <p:blipFill>
          <a:blip r:embed="rId3"/>
          <a:srcRect/>
          <a:stretch/>
        </p:blipFill>
        <p:spPr>
          <a:xfrm>
            <a:off x="1020978" y="1778190"/>
            <a:ext cx="279318" cy="279318"/>
          </a:xfrm>
          <a:prstGeom prst="rect">
            <a:avLst/>
          </a:prstGeom>
        </p:spPr>
      </p:pic>
      <p:sp>
        <p:nvSpPr>
          <p:cNvPr id="3" name="Text 0"/>
          <p:cNvSpPr/>
          <p:nvPr/>
        </p:nvSpPr>
        <p:spPr>
          <a:xfrm>
            <a:off x="1300296" y="1731550"/>
            <a:ext cx="4274501" cy="434323"/>
          </a:xfrm>
          <a:prstGeom prst="rect">
            <a:avLst/>
          </a:prstGeom>
          <a:noFill/>
          <a:ln/>
        </p:spPr>
        <p:txBody>
          <a:bodyPr wrap="square" lIns="0" tIns="0" rIns="0" bIns="0" rtlCol="0" anchor="t">
            <a:normAutofit/>
          </a:bodyPr>
          <a:lstStyle/>
          <a:p>
            <a:pPr>
              <a:lnSpc>
                <a:spcPts val="3220"/>
              </a:lnSpc>
            </a:pPr>
            <a:r>
              <a:rPr lang="en-US" sz="2800" b="1" dirty="0">
                <a:solidFill>
                  <a:srgbClr val="F6F3FF"/>
                </a:solidFill>
                <a:latin typeface="Arial" pitchFamily="34" charset="0"/>
                <a:ea typeface="Arial" pitchFamily="34" charset="-122"/>
                <a:cs typeface="Arial" pitchFamily="34" charset="-120"/>
              </a:rPr>
              <a:t>Justificación</a:t>
            </a:r>
            <a:endParaRPr lang="en-US" sz="2800" dirty="0"/>
          </a:p>
        </p:txBody>
      </p:sp>
      <p:sp>
        <p:nvSpPr>
          <p:cNvPr id="6" name="Text 2"/>
          <p:cNvSpPr/>
          <p:nvPr/>
        </p:nvSpPr>
        <p:spPr>
          <a:xfrm>
            <a:off x="4854366" y="2461512"/>
            <a:ext cx="2910650" cy="274244"/>
          </a:xfrm>
          <a:prstGeom prst="rect">
            <a:avLst/>
          </a:prstGeom>
          <a:noFill/>
          <a:ln/>
        </p:spPr>
        <p:txBody>
          <a:bodyPr wrap="square" lIns="0" tIns="0" rIns="0" bIns="0" rtlCol="0" anchor="t">
            <a:normAutofit/>
          </a:bodyPr>
          <a:lstStyle/>
          <a:p>
            <a:pPr marL="0" indent="0" algn="l">
              <a:lnSpc>
                <a:spcPts val="1960"/>
              </a:lnSpc>
              <a:buNone/>
            </a:pPr>
            <a:endParaRPr lang="en-US" sz="1400" dirty="0"/>
          </a:p>
        </p:txBody>
      </p:sp>
      <p:sp>
        <p:nvSpPr>
          <p:cNvPr id="8" name="Shape 3"/>
          <p:cNvSpPr/>
          <p:nvPr/>
        </p:nvSpPr>
        <p:spPr>
          <a:xfrm>
            <a:off x="994213" y="3983715"/>
            <a:ext cx="9467717" cy="1839678"/>
          </a:xfrm>
          <a:prstGeom prst="roundRect">
            <a:avLst>
              <a:gd name="adj" fmla="val 16150"/>
            </a:avLst>
          </a:prstGeom>
          <a:solidFill>
            <a:srgbClr val="22D3AC">
              <a:alpha val="15000"/>
            </a:srgbClr>
          </a:solidFill>
          <a:ln w="6350">
            <a:solidFill>
              <a:srgbClr val="FFFFFF">
                <a:alpha val="15000"/>
              </a:srgbClr>
            </a:solidFill>
            <a:prstDash val="solid"/>
          </a:ln>
        </p:spPr>
        <p:txBody>
          <a:bodyPr/>
          <a:lstStyle/>
          <a:p>
            <a:r>
              <a:rPr lang="es-CO" sz="1500" b="1" dirty="0">
                <a:solidFill>
                  <a:schemeClr val="bg1"/>
                </a:solidFill>
              </a:rPr>
              <a:t>Solución</a:t>
            </a:r>
          </a:p>
          <a:p>
            <a:endParaRPr lang="es-CO" sz="1500" dirty="0"/>
          </a:p>
          <a:p>
            <a:r>
              <a:rPr lang="es-ES" sz="1250" dirty="0">
                <a:solidFill>
                  <a:schemeClr val="bg1"/>
                </a:solidFill>
              </a:rPr>
              <a:t>Como solución desarrollamos un sistema de escritorio para la tienda de abarrotes. El sistema cuenta con diferentes funciones para administrar productos, clientes y usuarios. También permite que el cliente seleccione productos mediante un carrito, realice una compra y posteriormente pueda consultar su historial. Por otra parte, el administrador puede gestionar los productos y consultar la información relacionada con las ventas. Toda esta información se maneja mediante una base de datos, permitiendo que los datos queden almacenados y organizados.</a:t>
            </a:r>
            <a:endParaRPr lang="es-CO" sz="1250" dirty="0">
              <a:solidFill>
                <a:schemeClr val="bg1"/>
              </a:solidFill>
            </a:endParaRPr>
          </a:p>
        </p:txBody>
      </p:sp>
      <p:sp>
        <p:nvSpPr>
          <p:cNvPr id="10" name="Text 4"/>
          <p:cNvSpPr/>
          <p:nvPr/>
        </p:nvSpPr>
        <p:spPr>
          <a:xfrm>
            <a:off x="4360310" y="3508978"/>
            <a:ext cx="3928497" cy="274244"/>
          </a:xfrm>
          <a:prstGeom prst="rect">
            <a:avLst/>
          </a:prstGeom>
          <a:noFill/>
          <a:ln/>
        </p:spPr>
        <p:txBody>
          <a:bodyPr wrap="square" lIns="0" tIns="0" rIns="0" bIns="0" rtlCol="0" anchor="t">
            <a:normAutofit/>
          </a:bodyPr>
          <a:lstStyle/>
          <a:p>
            <a:pPr marL="0" indent="0" algn="l">
              <a:lnSpc>
                <a:spcPts val="1960"/>
              </a:lnSpc>
              <a:buNone/>
            </a:pPr>
            <a:endParaRPr lang="en-US" sz="1400" dirty="0"/>
          </a:p>
        </p:txBody>
      </p:sp>
      <p:sp>
        <p:nvSpPr>
          <p:cNvPr id="14" name="Text 6"/>
          <p:cNvSpPr/>
          <p:nvPr/>
        </p:nvSpPr>
        <p:spPr>
          <a:xfrm>
            <a:off x="5239724" y="4556444"/>
            <a:ext cx="2116812" cy="27424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3FF"/>
                </a:solidFill>
                <a:latin typeface="Arial" pitchFamily="34" charset="0"/>
                <a:ea typeface="Arial" pitchFamily="34" charset="-122"/>
                <a:cs typeface="Arial" pitchFamily="34" charset="-120"/>
              </a:rPr>
              <a:t> </a:t>
            </a:r>
            <a:endParaRPr lang="en-US" sz="1400" dirty="0"/>
          </a:p>
        </p:txBody>
      </p:sp>
      <p:sp>
        <p:nvSpPr>
          <p:cNvPr id="15" name="Text 7"/>
          <p:cNvSpPr/>
          <p:nvPr/>
        </p:nvSpPr>
        <p:spPr>
          <a:xfrm>
            <a:off x="812796" y="6256097"/>
            <a:ext cx="2183330" cy="220914"/>
          </a:xfrm>
          <a:prstGeom prst="rect">
            <a:avLst/>
          </a:prstGeom>
          <a:noFill/>
          <a:ln/>
        </p:spPr>
        <p:txBody>
          <a:bodyPr wrap="square" lIns="0" tIns="0" rIns="0" bIns="0" rtlCol="0" anchor="t">
            <a:normAutofit/>
          </a:bodyPr>
          <a:lstStyle/>
          <a:p>
            <a:pPr marL="0" indent="0" algn="l">
              <a:lnSpc>
                <a:spcPts val="1540"/>
              </a:lnSpc>
              <a:buNone/>
            </a:pPr>
            <a:endParaRPr lang="en-US" sz="1100" dirty="0"/>
          </a:p>
        </p:txBody>
      </p:sp>
      <p:pic>
        <p:nvPicPr>
          <p:cNvPr id="18" name="Imagen 17">
            <a:extLst>
              <a:ext uri="{FF2B5EF4-FFF2-40B4-BE49-F238E27FC236}">
                <a16:creationId xmlns:a16="http://schemas.microsoft.com/office/drawing/2014/main" id="{CB9CD88D-6206-C716-1FAB-DD6B2E856DE7}"/>
              </a:ext>
            </a:extLst>
          </p:cNvPr>
          <p:cNvPicPr>
            <a:picLocks noChangeAspect="1"/>
          </p:cNvPicPr>
          <p:nvPr/>
        </p:nvPicPr>
        <p:blipFill>
          <a:blip r:embed="rId4"/>
          <a:stretch>
            <a:fillRect/>
          </a:stretch>
        </p:blipFill>
        <p:spPr>
          <a:xfrm>
            <a:off x="11255829" y="66786"/>
            <a:ext cx="827314" cy="810768"/>
          </a:xfrm>
          <a:prstGeom prst="rect">
            <a:avLst/>
          </a:prstGeom>
        </p:spPr>
      </p:pic>
      <p:sp>
        <p:nvSpPr>
          <p:cNvPr id="16" name="CuadroTexto 15">
            <a:extLst>
              <a:ext uri="{FF2B5EF4-FFF2-40B4-BE49-F238E27FC236}">
                <a16:creationId xmlns:a16="http://schemas.microsoft.com/office/drawing/2014/main" id="{D56045FC-A57C-F29B-C370-3EEB6B21B951}"/>
              </a:ext>
            </a:extLst>
          </p:cNvPr>
          <p:cNvSpPr txBox="1"/>
          <p:nvPr/>
        </p:nvSpPr>
        <p:spPr>
          <a:xfrm>
            <a:off x="1020978" y="2342965"/>
            <a:ext cx="10102784" cy="1077218"/>
          </a:xfrm>
          <a:prstGeom prst="rect">
            <a:avLst/>
          </a:prstGeom>
          <a:noFill/>
        </p:spPr>
        <p:txBody>
          <a:bodyPr wrap="square" rtlCol="0">
            <a:spAutoFit/>
          </a:bodyPr>
          <a:lstStyle/>
          <a:p>
            <a:r>
              <a:rPr lang="es-ES" sz="1600" dirty="0">
                <a:solidFill>
                  <a:schemeClr val="bg1"/>
                </a:solidFill>
              </a:rPr>
              <a:t>Este proyecto se realiza con el propósito de facilitar la administración de una tienda de abarrotes mediante un sistema que reúna los principales procesos del negocio. El sistema permite tener la información más organizada y facilita tareas como consultar productos, realizar compras, registrar ventas y revisar el historial. Esto ayuda a reducir el trabajo manual y permite acceder a la información de una manera más rápida y ordenada.</a:t>
            </a:r>
            <a:endParaRPr lang="es-CO"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DFBFF"/>
        </a:solidFill>
        <a:effectLst/>
      </p:bgPr>
    </p:bg>
    <p:spTree>
      <p:nvGrpSpPr>
        <p:cNvPr id="1" name=""/>
        <p:cNvGrpSpPr/>
        <p:nvPr/>
      </p:nvGrpSpPr>
      <p:grpSpPr>
        <a:xfrm>
          <a:off x="0" y="0"/>
          <a:ext cx="0" cy="0"/>
          <a:chOff x="0" y="0"/>
          <a:chExt cx="0" cy="0"/>
        </a:xfrm>
      </p:grpSpPr>
      <p:pic>
        <p:nvPicPr>
          <p:cNvPr id="2" name="Image 0" descr="Settings"/>
          <p:cNvPicPr>
            <a:picLocks noChangeAspect="1"/>
          </p:cNvPicPr>
          <p:nvPr/>
        </p:nvPicPr>
        <p:blipFill>
          <a:blip r:embed="rId3"/>
          <a:srcRect/>
          <a:stretch/>
        </p:blipFill>
        <p:spPr>
          <a:xfrm>
            <a:off x="812796" y="884819"/>
            <a:ext cx="279318" cy="279318"/>
          </a:xfrm>
          <a:prstGeom prst="rect">
            <a:avLst/>
          </a:prstGeom>
        </p:spPr>
      </p:pic>
      <p:sp>
        <p:nvSpPr>
          <p:cNvPr id="3" name="Text 0"/>
          <p:cNvSpPr/>
          <p:nvPr/>
        </p:nvSpPr>
        <p:spPr>
          <a:xfrm>
            <a:off x="1193637" y="812797"/>
            <a:ext cx="5080111" cy="448851"/>
          </a:xfrm>
          <a:prstGeom prst="rect">
            <a:avLst/>
          </a:prstGeom>
          <a:noFill/>
          <a:ln/>
        </p:spPr>
        <p:txBody>
          <a:bodyPr wrap="square" lIns="0" tIns="0" rIns="0" bIns="0" rtlCol="0" anchor="t">
            <a:normAutofit/>
          </a:bodyPr>
          <a:lstStyle/>
          <a:p>
            <a:pPr marL="0" indent="0" algn="l">
              <a:lnSpc>
                <a:spcPts val="3335"/>
              </a:lnSpc>
              <a:buNone/>
            </a:pPr>
            <a:r>
              <a:rPr lang="en-US" sz="2900" b="1" dirty="0">
                <a:solidFill>
                  <a:srgbClr val="1D1830"/>
                </a:solidFill>
                <a:latin typeface="Arial" pitchFamily="34" charset="0"/>
                <a:ea typeface="Arial" pitchFamily="34" charset="-122"/>
                <a:cs typeface="Arial" pitchFamily="34" charset="-120"/>
              </a:rPr>
              <a:t>Requerimientos funcionales</a:t>
            </a:r>
            <a:endParaRPr lang="en-US" sz="2900" dirty="0"/>
          </a:p>
        </p:txBody>
      </p:sp>
      <p:sp>
        <p:nvSpPr>
          <p:cNvPr id="4" name="Shape 1"/>
          <p:cNvSpPr/>
          <p:nvPr/>
        </p:nvSpPr>
        <p:spPr>
          <a:xfrm>
            <a:off x="812796" y="1464805"/>
            <a:ext cx="3420478" cy="2112385"/>
          </a:xfrm>
          <a:prstGeom prst="roundRect">
            <a:avLst>
              <a:gd name="adj" fmla="val 5411"/>
            </a:avLst>
          </a:prstGeom>
          <a:solidFill>
            <a:srgbClr val="FFFFFF"/>
          </a:solidFill>
          <a:ln/>
          <a:effectLst>
            <a:outerShdw blurRad="152400" dist="25400" dir="5400000" algn="bl" rotWithShape="0">
              <a:srgbClr val="000000">
                <a:alpha val="6000"/>
              </a:srgbClr>
            </a:outerShdw>
          </a:effectLst>
        </p:spPr>
        <p:txBody>
          <a:bodyPr/>
          <a:lstStyle/>
          <a:p>
            <a:endParaRPr lang="es-CO"/>
          </a:p>
        </p:txBody>
      </p:sp>
      <p:pic>
        <p:nvPicPr>
          <p:cNvPr id="5" name="Image 1" descr="Database"/>
          <p:cNvPicPr>
            <a:picLocks noChangeAspect="1"/>
          </p:cNvPicPr>
          <p:nvPr/>
        </p:nvPicPr>
        <p:blipFill>
          <a:blip r:embed="rId4"/>
          <a:srcRect/>
          <a:stretch/>
        </p:blipFill>
        <p:spPr>
          <a:xfrm>
            <a:off x="1015929" y="1667939"/>
            <a:ext cx="228557" cy="228557"/>
          </a:xfrm>
          <a:prstGeom prst="rect">
            <a:avLst/>
          </a:prstGeom>
        </p:spPr>
      </p:pic>
      <p:sp>
        <p:nvSpPr>
          <p:cNvPr id="6" name="Text 2"/>
          <p:cNvSpPr/>
          <p:nvPr/>
        </p:nvSpPr>
        <p:spPr>
          <a:xfrm>
            <a:off x="1015929" y="1985350"/>
            <a:ext cx="3104639" cy="229862"/>
          </a:xfrm>
          <a:prstGeom prst="rect">
            <a:avLst/>
          </a:prstGeom>
          <a:noFill/>
          <a:ln/>
        </p:spPr>
        <p:txBody>
          <a:bodyPr wrap="square" lIns="0" tIns="0" rIns="0" bIns="0" rtlCol="0" anchor="t">
            <a:normAutofit/>
          </a:bodyPr>
          <a:lstStyle/>
          <a:p>
            <a:pPr marL="0" indent="0" algn="l">
              <a:lnSpc>
                <a:spcPts val="1610"/>
              </a:lnSpc>
              <a:buNone/>
            </a:pPr>
            <a:r>
              <a:rPr lang="en-US" sz="1150" b="1" dirty="0">
                <a:solidFill>
                  <a:srgbClr val="1D1830"/>
                </a:solidFill>
                <a:latin typeface="Arial" pitchFamily="34" charset="0"/>
                <a:ea typeface="Arial" pitchFamily="34" charset="-122"/>
                <a:cs typeface="Arial" pitchFamily="34" charset="-120"/>
              </a:rPr>
              <a:t>Registrar productos, clientes y ventas</a:t>
            </a:r>
            <a:endParaRPr lang="en-US" sz="1150" dirty="0"/>
          </a:p>
        </p:txBody>
      </p:sp>
      <p:sp>
        <p:nvSpPr>
          <p:cNvPr id="7" name="Shape 3"/>
          <p:cNvSpPr/>
          <p:nvPr/>
        </p:nvSpPr>
        <p:spPr>
          <a:xfrm>
            <a:off x="4385646" y="1464805"/>
            <a:ext cx="3420566" cy="2112385"/>
          </a:xfrm>
          <a:prstGeom prst="roundRect">
            <a:avLst>
              <a:gd name="adj" fmla="val 5411"/>
            </a:avLst>
          </a:prstGeom>
          <a:solidFill>
            <a:srgbClr val="FFFFFF"/>
          </a:solidFill>
          <a:ln/>
          <a:effectLst>
            <a:outerShdw blurRad="152400" dist="25400" dir="5400000" algn="bl" rotWithShape="0">
              <a:srgbClr val="000000">
                <a:alpha val="6000"/>
              </a:srgbClr>
            </a:outerShdw>
          </a:effectLst>
        </p:spPr>
        <p:txBody>
          <a:bodyPr/>
          <a:lstStyle/>
          <a:p>
            <a:endParaRPr lang="es-CO"/>
          </a:p>
        </p:txBody>
      </p:sp>
      <p:pic>
        <p:nvPicPr>
          <p:cNvPr id="8" name="Image 2" descr="Chart"/>
          <p:cNvPicPr>
            <a:picLocks noChangeAspect="1"/>
          </p:cNvPicPr>
          <p:nvPr/>
        </p:nvPicPr>
        <p:blipFill>
          <a:blip r:embed="rId5"/>
          <a:srcRect/>
          <a:stretch/>
        </p:blipFill>
        <p:spPr>
          <a:xfrm>
            <a:off x="4588778" y="1667939"/>
            <a:ext cx="228557" cy="228557"/>
          </a:xfrm>
          <a:prstGeom prst="rect">
            <a:avLst/>
          </a:prstGeom>
        </p:spPr>
      </p:pic>
      <p:sp>
        <p:nvSpPr>
          <p:cNvPr id="9" name="Text 4"/>
          <p:cNvSpPr/>
          <p:nvPr/>
        </p:nvSpPr>
        <p:spPr>
          <a:xfrm>
            <a:off x="4588778" y="1985350"/>
            <a:ext cx="3104730" cy="434323"/>
          </a:xfrm>
          <a:prstGeom prst="rect">
            <a:avLst/>
          </a:prstGeom>
          <a:noFill/>
          <a:ln/>
        </p:spPr>
        <p:txBody>
          <a:bodyPr wrap="square" lIns="0" tIns="0" rIns="0" bIns="0" rtlCol="0" anchor="t">
            <a:normAutofit/>
          </a:bodyPr>
          <a:lstStyle/>
          <a:p>
            <a:pPr marL="0" indent="0" algn="l">
              <a:lnSpc>
                <a:spcPts val="1610"/>
              </a:lnSpc>
              <a:buNone/>
            </a:pPr>
            <a:r>
              <a:rPr lang="en-US" sz="1150" b="1" dirty="0">
                <a:solidFill>
                  <a:srgbClr val="1D1830"/>
                </a:solidFill>
                <a:latin typeface="Arial" pitchFamily="34" charset="0"/>
                <a:ea typeface="Arial" pitchFamily="34" charset="-122"/>
                <a:cs typeface="Arial" pitchFamily="34" charset="-120"/>
              </a:rPr>
              <a:t>Agregar productos a la venta y calcular subtotal y total</a:t>
            </a:r>
            <a:endParaRPr lang="en-US" sz="1150" dirty="0"/>
          </a:p>
        </p:txBody>
      </p:sp>
      <p:sp>
        <p:nvSpPr>
          <p:cNvPr id="10" name="Shape 5"/>
          <p:cNvSpPr/>
          <p:nvPr/>
        </p:nvSpPr>
        <p:spPr>
          <a:xfrm>
            <a:off x="7958584" y="1464805"/>
            <a:ext cx="3420566" cy="2112385"/>
          </a:xfrm>
          <a:prstGeom prst="roundRect">
            <a:avLst>
              <a:gd name="adj" fmla="val 5411"/>
            </a:avLst>
          </a:prstGeom>
          <a:solidFill>
            <a:srgbClr val="FFFFFF"/>
          </a:solidFill>
          <a:ln/>
          <a:effectLst>
            <a:outerShdw blurRad="152400" dist="25400" dir="5400000" algn="bl" rotWithShape="0">
              <a:srgbClr val="000000">
                <a:alpha val="6000"/>
              </a:srgbClr>
            </a:outerShdw>
          </a:effectLst>
        </p:spPr>
        <p:txBody>
          <a:bodyPr/>
          <a:lstStyle/>
          <a:p>
            <a:endParaRPr lang="es-CO"/>
          </a:p>
        </p:txBody>
      </p:sp>
      <p:pic>
        <p:nvPicPr>
          <p:cNvPr id="11" name="Image 3" descr="Link"/>
          <p:cNvPicPr>
            <a:picLocks noChangeAspect="1"/>
          </p:cNvPicPr>
          <p:nvPr/>
        </p:nvPicPr>
        <p:blipFill>
          <a:blip r:embed="rId6"/>
          <a:srcRect/>
          <a:stretch/>
        </p:blipFill>
        <p:spPr>
          <a:xfrm>
            <a:off x="8161717" y="1667939"/>
            <a:ext cx="228557" cy="228557"/>
          </a:xfrm>
          <a:prstGeom prst="rect">
            <a:avLst/>
          </a:prstGeom>
        </p:spPr>
      </p:pic>
      <p:sp>
        <p:nvSpPr>
          <p:cNvPr id="12" name="Text 6"/>
          <p:cNvSpPr/>
          <p:nvPr/>
        </p:nvSpPr>
        <p:spPr>
          <a:xfrm>
            <a:off x="8161717" y="1985350"/>
            <a:ext cx="3104730" cy="229862"/>
          </a:xfrm>
          <a:prstGeom prst="rect">
            <a:avLst/>
          </a:prstGeom>
          <a:noFill/>
          <a:ln/>
        </p:spPr>
        <p:txBody>
          <a:bodyPr wrap="square" lIns="0" tIns="0" rIns="0" bIns="0" rtlCol="0" anchor="t">
            <a:normAutofit/>
          </a:bodyPr>
          <a:lstStyle/>
          <a:p>
            <a:pPr marL="0" indent="0" algn="l">
              <a:lnSpc>
                <a:spcPts val="1610"/>
              </a:lnSpc>
              <a:buNone/>
            </a:pPr>
            <a:r>
              <a:rPr lang="en-US" sz="1150" b="1" dirty="0">
                <a:solidFill>
                  <a:srgbClr val="1D1830"/>
                </a:solidFill>
                <a:latin typeface="Arial" pitchFamily="34" charset="0"/>
                <a:ea typeface="Arial" pitchFamily="34" charset="-122"/>
                <a:cs typeface="Arial" pitchFamily="34" charset="-120"/>
              </a:rPr>
              <a:t>Relacionar cada venta con su cliente</a:t>
            </a:r>
            <a:endParaRPr lang="en-US" sz="1150" dirty="0"/>
          </a:p>
        </p:txBody>
      </p:sp>
      <p:sp>
        <p:nvSpPr>
          <p:cNvPr id="13" name="Shape 7"/>
          <p:cNvSpPr/>
          <p:nvPr/>
        </p:nvSpPr>
        <p:spPr>
          <a:xfrm>
            <a:off x="812796" y="3729561"/>
            <a:ext cx="3420478" cy="2112473"/>
          </a:xfrm>
          <a:prstGeom prst="roundRect">
            <a:avLst>
              <a:gd name="adj" fmla="val 5411"/>
            </a:avLst>
          </a:prstGeom>
          <a:solidFill>
            <a:srgbClr val="FFFFFF"/>
          </a:solidFill>
          <a:ln/>
          <a:effectLst>
            <a:outerShdw blurRad="152400" dist="25400" dir="5400000" algn="bl" rotWithShape="0">
              <a:srgbClr val="000000">
                <a:alpha val="6000"/>
              </a:srgbClr>
            </a:outerShdw>
          </a:effectLst>
        </p:spPr>
        <p:txBody>
          <a:bodyPr/>
          <a:lstStyle/>
          <a:p>
            <a:endParaRPr lang="es-CO"/>
          </a:p>
        </p:txBody>
      </p:sp>
      <p:pic>
        <p:nvPicPr>
          <p:cNvPr id="14" name="Image 4" descr="Activity"/>
          <p:cNvPicPr>
            <a:picLocks noChangeAspect="1"/>
          </p:cNvPicPr>
          <p:nvPr/>
        </p:nvPicPr>
        <p:blipFill>
          <a:blip r:embed="rId7"/>
          <a:srcRect/>
          <a:stretch/>
        </p:blipFill>
        <p:spPr>
          <a:xfrm>
            <a:off x="1015929" y="3932695"/>
            <a:ext cx="228557" cy="228557"/>
          </a:xfrm>
          <a:prstGeom prst="rect">
            <a:avLst/>
          </a:prstGeom>
        </p:spPr>
      </p:pic>
      <p:sp>
        <p:nvSpPr>
          <p:cNvPr id="15" name="Text 8"/>
          <p:cNvSpPr/>
          <p:nvPr/>
        </p:nvSpPr>
        <p:spPr>
          <a:xfrm>
            <a:off x="1015929" y="4250106"/>
            <a:ext cx="3104639" cy="434323"/>
          </a:xfrm>
          <a:prstGeom prst="rect">
            <a:avLst/>
          </a:prstGeom>
          <a:noFill/>
          <a:ln/>
        </p:spPr>
        <p:txBody>
          <a:bodyPr wrap="square" lIns="0" tIns="0" rIns="0" bIns="0" rtlCol="0" anchor="t">
            <a:normAutofit/>
          </a:bodyPr>
          <a:lstStyle/>
          <a:p>
            <a:pPr marL="0" indent="0" algn="l">
              <a:lnSpc>
                <a:spcPts val="1610"/>
              </a:lnSpc>
              <a:buNone/>
            </a:pPr>
            <a:r>
              <a:rPr lang="en-US" sz="1150" b="1" dirty="0">
                <a:solidFill>
                  <a:srgbClr val="1D1830"/>
                </a:solidFill>
                <a:latin typeface="Arial" pitchFamily="34" charset="0"/>
                <a:ea typeface="Arial" pitchFamily="34" charset="-122"/>
                <a:cs typeface="Arial" pitchFamily="34" charset="-120"/>
              </a:rPr>
              <a:t>Descontar el stock automáticamente tras la venta</a:t>
            </a:r>
            <a:endParaRPr lang="en-US" sz="1150" dirty="0"/>
          </a:p>
        </p:txBody>
      </p:sp>
      <p:sp>
        <p:nvSpPr>
          <p:cNvPr id="16" name="Shape 9"/>
          <p:cNvSpPr/>
          <p:nvPr/>
        </p:nvSpPr>
        <p:spPr>
          <a:xfrm>
            <a:off x="4385646" y="3729561"/>
            <a:ext cx="3420566" cy="2112473"/>
          </a:xfrm>
          <a:prstGeom prst="roundRect">
            <a:avLst>
              <a:gd name="adj" fmla="val 5411"/>
            </a:avLst>
          </a:prstGeom>
          <a:solidFill>
            <a:srgbClr val="FFFFFF"/>
          </a:solidFill>
          <a:ln/>
          <a:effectLst>
            <a:outerShdw blurRad="152400" dist="25400" dir="5400000" algn="bl" rotWithShape="0">
              <a:srgbClr val="000000">
                <a:alpha val="6000"/>
              </a:srgbClr>
            </a:outerShdw>
          </a:effectLst>
        </p:spPr>
        <p:txBody>
          <a:bodyPr/>
          <a:lstStyle/>
          <a:p>
            <a:endParaRPr lang="es-CO"/>
          </a:p>
        </p:txBody>
      </p:sp>
      <p:pic>
        <p:nvPicPr>
          <p:cNvPr id="17" name="Image 5" descr="Search"/>
          <p:cNvPicPr>
            <a:picLocks noChangeAspect="1"/>
          </p:cNvPicPr>
          <p:nvPr/>
        </p:nvPicPr>
        <p:blipFill>
          <a:blip r:embed="rId8"/>
          <a:srcRect/>
          <a:stretch/>
        </p:blipFill>
        <p:spPr>
          <a:xfrm>
            <a:off x="4588778" y="3932695"/>
            <a:ext cx="228557" cy="228557"/>
          </a:xfrm>
          <a:prstGeom prst="rect">
            <a:avLst/>
          </a:prstGeom>
        </p:spPr>
      </p:pic>
      <p:sp>
        <p:nvSpPr>
          <p:cNvPr id="18" name="Text 10"/>
          <p:cNvSpPr/>
          <p:nvPr/>
        </p:nvSpPr>
        <p:spPr>
          <a:xfrm>
            <a:off x="4588778" y="4250106"/>
            <a:ext cx="3104730" cy="229862"/>
          </a:xfrm>
          <a:prstGeom prst="rect">
            <a:avLst/>
          </a:prstGeom>
          <a:noFill/>
          <a:ln/>
        </p:spPr>
        <p:txBody>
          <a:bodyPr wrap="square" lIns="0" tIns="0" rIns="0" bIns="0" rtlCol="0" anchor="t">
            <a:normAutofit/>
          </a:bodyPr>
          <a:lstStyle/>
          <a:p>
            <a:pPr marL="0" indent="0" algn="l">
              <a:lnSpc>
                <a:spcPts val="1610"/>
              </a:lnSpc>
              <a:buNone/>
            </a:pPr>
            <a:r>
              <a:rPr lang="en-US" sz="1150" b="1" dirty="0">
                <a:solidFill>
                  <a:srgbClr val="1D1830"/>
                </a:solidFill>
                <a:latin typeface="Arial" pitchFamily="34" charset="0"/>
                <a:ea typeface="Arial" pitchFamily="34" charset="-122"/>
                <a:cs typeface="Arial" pitchFamily="34" charset="-120"/>
              </a:rPr>
              <a:t>Verificar stock disponible antes de vender</a:t>
            </a:r>
            <a:endParaRPr lang="en-US" sz="1150" dirty="0"/>
          </a:p>
        </p:txBody>
      </p:sp>
      <p:sp>
        <p:nvSpPr>
          <p:cNvPr id="19" name="Shape 11"/>
          <p:cNvSpPr/>
          <p:nvPr/>
        </p:nvSpPr>
        <p:spPr>
          <a:xfrm>
            <a:off x="7958584" y="3729561"/>
            <a:ext cx="3420566" cy="2112473"/>
          </a:xfrm>
          <a:prstGeom prst="roundRect">
            <a:avLst>
              <a:gd name="adj" fmla="val 5411"/>
            </a:avLst>
          </a:prstGeom>
          <a:solidFill>
            <a:srgbClr val="FFFFFF"/>
          </a:solidFill>
          <a:ln/>
          <a:effectLst>
            <a:outerShdw blurRad="152400" dist="25400" dir="5400000" algn="bl" rotWithShape="0">
              <a:srgbClr val="000000">
                <a:alpha val="6000"/>
              </a:srgbClr>
            </a:outerShdw>
          </a:effectLst>
        </p:spPr>
        <p:txBody>
          <a:bodyPr/>
          <a:lstStyle/>
          <a:p>
            <a:endParaRPr lang="es-CO"/>
          </a:p>
        </p:txBody>
      </p:sp>
      <p:pic>
        <p:nvPicPr>
          <p:cNvPr id="20" name="Image 6" descr="Warning"/>
          <p:cNvPicPr>
            <a:picLocks noChangeAspect="1"/>
          </p:cNvPicPr>
          <p:nvPr/>
        </p:nvPicPr>
        <p:blipFill>
          <a:blip r:embed="rId9"/>
          <a:srcRect/>
          <a:stretch/>
        </p:blipFill>
        <p:spPr>
          <a:xfrm>
            <a:off x="8161717" y="3932695"/>
            <a:ext cx="228557" cy="228557"/>
          </a:xfrm>
          <a:prstGeom prst="rect">
            <a:avLst/>
          </a:prstGeom>
        </p:spPr>
      </p:pic>
      <p:sp>
        <p:nvSpPr>
          <p:cNvPr id="21" name="Text 12"/>
          <p:cNvSpPr/>
          <p:nvPr/>
        </p:nvSpPr>
        <p:spPr>
          <a:xfrm>
            <a:off x="8161717" y="4250106"/>
            <a:ext cx="3104730" cy="434323"/>
          </a:xfrm>
          <a:prstGeom prst="rect">
            <a:avLst/>
          </a:prstGeom>
          <a:noFill/>
          <a:ln/>
        </p:spPr>
        <p:txBody>
          <a:bodyPr wrap="square" lIns="0" tIns="0" rIns="0" bIns="0" rtlCol="0" anchor="t">
            <a:normAutofit/>
          </a:bodyPr>
          <a:lstStyle/>
          <a:p>
            <a:pPr marL="0" indent="0" algn="l">
              <a:lnSpc>
                <a:spcPts val="1610"/>
              </a:lnSpc>
              <a:buNone/>
            </a:pPr>
            <a:r>
              <a:rPr lang="en-US" sz="1150" b="1" dirty="0">
                <a:solidFill>
                  <a:srgbClr val="1D1830"/>
                </a:solidFill>
                <a:latin typeface="Arial" pitchFamily="34" charset="0"/>
                <a:ea typeface="Arial" pitchFamily="34" charset="-122"/>
                <a:cs typeface="Arial" pitchFamily="34" charset="-120"/>
              </a:rPr>
              <a:t>No permitir productos agotados ni ventas vacías</a:t>
            </a:r>
            <a:endParaRPr lang="en-US" sz="1150" dirty="0"/>
          </a:p>
        </p:txBody>
      </p:sp>
      <p:sp>
        <p:nvSpPr>
          <p:cNvPr id="22" name="Text 13"/>
          <p:cNvSpPr/>
          <p:nvPr/>
        </p:nvSpPr>
        <p:spPr>
          <a:xfrm>
            <a:off x="812796" y="6256097"/>
            <a:ext cx="2183330" cy="220914"/>
          </a:xfrm>
          <a:prstGeom prst="rect">
            <a:avLst/>
          </a:prstGeom>
          <a:noFill/>
          <a:ln/>
        </p:spPr>
        <p:txBody>
          <a:bodyPr wrap="square" lIns="0" tIns="0" rIns="0" bIns="0" rtlCol="0" anchor="t">
            <a:normAutofit/>
          </a:bodyPr>
          <a:lstStyle/>
          <a:p>
            <a:pPr marL="0" indent="0" algn="l">
              <a:lnSpc>
                <a:spcPts val="1540"/>
              </a:lnSpc>
              <a:buNone/>
            </a:pPr>
            <a:endParaRPr lang="en-US" sz="1100" dirty="0"/>
          </a:p>
        </p:txBody>
      </p:sp>
      <p:pic>
        <p:nvPicPr>
          <p:cNvPr id="24" name="Imagen 23">
            <a:extLst>
              <a:ext uri="{FF2B5EF4-FFF2-40B4-BE49-F238E27FC236}">
                <a16:creationId xmlns:a16="http://schemas.microsoft.com/office/drawing/2014/main" id="{FE6E5E76-2470-6575-5CEC-AB2EBFB9DD88}"/>
              </a:ext>
            </a:extLst>
          </p:cNvPr>
          <p:cNvPicPr>
            <a:picLocks noChangeAspect="1"/>
          </p:cNvPicPr>
          <p:nvPr/>
        </p:nvPicPr>
        <p:blipFill>
          <a:blip r:embed="rId10"/>
          <a:stretch>
            <a:fillRect/>
          </a:stretch>
        </p:blipFill>
        <p:spPr>
          <a:xfrm>
            <a:off x="11266447" y="65817"/>
            <a:ext cx="823031" cy="810838"/>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DCDC9CCC-7BFF-40F6-890D-50D6C85939CA}"/>
            </a:ext>
          </a:extLst>
        </p:cNvPr>
        <p:cNvGrpSpPr/>
        <p:nvPr/>
      </p:nvGrpSpPr>
      <p:grpSpPr>
        <a:xfrm>
          <a:off x="0" y="0"/>
          <a:ext cx="0" cy="0"/>
          <a:chOff x="0" y="0"/>
          <a:chExt cx="0" cy="0"/>
        </a:xfrm>
      </p:grpSpPr>
      <p:pic>
        <p:nvPicPr>
          <p:cNvPr id="2" name="Image 0" descr="Code">
            <a:extLst>
              <a:ext uri="{FF2B5EF4-FFF2-40B4-BE49-F238E27FC236}">
                <a16:creationId xmlns:a16="http://schemas.microsoft.com/office/drawing/2014/main" id="{BEAC0C8C-3C5C-0A71-DE30-2744C4DFBA8A}"/>
              </a:ext>
            </a:extLst>
          </p:cNvPr>
          <p:cNvPicPr>
            <a:picLocks noChangeAspect="1"/>
          </p:cNvPicPr>
          <p:nvPr/>
        </p:nvPicPr>
        <p:blipFill>
          <a:blip r:embed="rId3"/>
          <a:srcRect/>
          <a:stretch/>
        </p:blipFill>
        <p:spPr>
          <a:xfrm>
            <a:off x="812796" y="877554"/>
            <a:ext cx="279318" cy="279318"/>
          </a:xfrm>
          <a:prstGeom prst="rect">
            <a:avLst/>
          </a:prstGeom>
        </p:spPr>
      </p:pic>
      <p:sp>
        <p:nvSpPr>
          <p:cNvPr id="3" name="Text 0">
            <a:extLst>
              <a:ext uri="{FF2B5EF4-FFF2-40B4-BE49-F238E27FC236}">
                <a16:creationId xmlns:a16="http://schemas.microsoft.com/office/drawing/2014/main" id="{361DBD5F-3454-4B33-3C30-42BEEEFC5DAE}"/>
              </a:ext>
            </a:extLst>
          </p:cNvPr>
          <p:cNvSpPr/>
          <p:nvPr/>
        </p:nvSpPr>
        <p:spPr>
          <a:xfrm>
            <a:off x="1193637" y="812797"/>
            <a:ext cx="4274501" cy="434323"/>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F6F3FF"/>
                </a:solidFill>
                <a:latin typeface="Arial" pitchFamily="34" charset="0"/>
                <a:ea typeface="Arial" pitchFamily="34" charset="-122"/>
                <a:cs typeface="Arial" pitchFamily="34" charset="-120"/>
              </a:rPr>
              <a:t>Arquitectura del sistema</a:t>
            </a:r>
            <a:endParaRPr lang="en-US" sz="2800" dirty="0"/>
          </a:p>
        </p:txBody>
      </p:sp>
      <p:sp>
        <p:nvSpPr>
          <p:cNvPr id="4" name="Shape 1">
            <a:extLst>
              <a:ext uri="{FF2B5EF4-FFF2-40B4-BE49-F238E27FC236}">
                <a16:creationId xmlns:a16="http://schemas.microsoft.com/office/drawing/2014/main" id="{64384089-488E-07A7-59A2-F521BF69861D}"/>
              </a:ext>
            </a:extLst>
          </p:cNvPr>
          <p:cNvSpPr/>
          <p:nvPr/>
        </p:nvSpPr>
        <p:spPr>
          <a:xfrm>
            <a:off x="3241604" y="2281220"/>
            <a:ext cx="5708650" cy="609426"/>
          </a:xfrm>
          <a:prstGeom prst="roundRect">
            <a:avLst>
              <a:gd name="adj" fmla="val 16150"/>
            </a:avLst>
          </a:prstGeom>
          <a:solidFill>
            <a:srgbClr val="8B5CF6">
              <a:alpha val="18000"/>
            </a:srgbClr>
          </a:solidFill>
          <a:ln w="6350">
            <a:solidFill>
              <a:srgbClr val="FFFFFF">
                <a:alpha val="15000"/>
              </a:srgbClr>
            </a:solidFill>
            <a:prstDash val="solid"/>
          </a:ln>
        </p:spPr>
        <p:txBody>
          <a:bodyPr/>
          <a:lstStyle/>
          <a:p>
            <a:endParaRPr lang="es-CO"/>
          </a:p>
        </p:txBody>
      </p:sp>
      <p:pic>
        <p:nvPicPr>
          <p:cNvPr id="5" name="Image 1" descr="Home">
            <a:extLst>
              <a:ext uri="{FF2B5EF4-FFF2-40B4-BE49-F238E27FC236}">
                <a16:creationId xmlns:a16="http://schemas.microsoft.com/office/drawing/2014/main" id="{D48C8DD7-FFEA-82DF-9F9F-542DB1850867}"/>
              </a:ext>
            </a:extLst>
          </p:cNvPr>
          <p:cNvPicPr>
            <a:picLocks noChangeAspect="1"/>
          </p:cNvPicPr>
          <p:nvPr/>
        </p:nvPicPr>
        <p:blipFill>
          <a:blip r:embed="rId4"/>
          <a:srcRect/>
          <a:stretch/>
        </p:blipFill>
        <p:spPr>
          <a:xfrm>
            <a:off x="4511530" y="2477988"/>
            <a:ext cx="215889" cy="215889"/>
          </a:xfrm>
          <a:prstGeom prst="rect">
            <a:avLst/>
          </a:prstGeom>
        </p:spPr>
      </p:pic>
      <p:sp>
        <p:nvSpPr>
          <p:cNvPr id="6" name="Text 2">
            <a:extLst>
              <a:ext uri="{FF2B5EF4-FFF2-40B4-BE49-F238E27FC236}">
                <a16:creationId xmlns:a16="http://schemas.microsoft.com/office/drawing/2014/main" id="{EB1E87CD-2E51-D64C-1D17-88952A752192}"/>
              </a:ext>
            </a:extLst>
          </p:cNvPr>
          <p:cNvSpPr/>
          <p:nvPr/>
        </p:nvSpPr>
        <p:spPr>
          <a:xfrm>
            <a:off x="4854366" y="2461512"/>
            <a:ext cx="2910650" cy="27424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3FF"/>
                </a:solidFill>
                <a:latin typeface="Arial" pitchFamily="34" charset="0"/>
                <a:ea typeface="Arial" pitchFamily="34" charset="-122"/>
                <a:cs typeface="Arial" pitchFamily="34" charset="-120"/>
              </a:rPr>
              <a:t>Interfaz de usuario — Java Swing</a:t>
            </a:r>
            <a:endParaRPr lang="en-US" sz="1400" dirty="0"/>
          </a:p>
        </p:txBody>
      </p:sp>
      <p:pic>
        <p:nvPicPr>
          <p:cNvPr id="7" name="Image 2" descr="arrow-down">
            <a:extLst>
              <a:ext uri="{FF2B5EF4-FFF2-40B4-BE49-F238E27FC236}">
                <a16:creationId xmlns:a16="http://schemas.microsoft.com/office/drawing/2014/main" id="{94C87410-6C7C-0CF6-5052-BB43BB4051A4}"/>
              </a:ext>
            </a:extLst>
          </p:cNvPr>
          <p:cNvPicPr>
            <a:picLocks noChangeAspect="1"/>
          </p:cNvPicPr>
          <p:nvPr/>
        </p:nvPicPr>
        <p:blipFill>
          <a:blip r:embed="rId5"/>
          <a:srcRect l="-3" r="-3"/>
          <a:stretch/>
        </p:blipFill>
        <p:spPr>
          <a:xfrm>
            <a:off x="5918133" y="2982675"/>
            <a:ext cx="355593" cy="253982"/>
          </a:xfrm>
          <a:prstGeom prst="rect">
            <a:avLst/>
          </a:prstGeom>
        </p:spPr>
      </p:pic>
      <p:sp>
        <p:nvSpPr>
          <p:cNvPr id="8" name="Shape 3">
            <a:extLst>
              <a:ext uri="{FF2B5EF4-FFF2-40B4-BE49-F238E27FC236}">
                <a16:creationId xmlns:a16="http://schemas.microsoft.com/office/drawing/2014/main" id="{5B06D25D-27CD-F982-B674-A375F60492E0}"/>
              </a:ext>
            </a:extLst>
          </p:cNvPr>
          <p:cNvSpPr/>
          <p:nvPr/>
        </p:nvSpPr>
        <p:spPr>
          <a:xfrm>
            <a:off x="3241604" y="3328687"/>
            <a:ext cx="5708650" cy="609426"/>
          </a:xfrm>
          <a:prstGeom prst="roundRect">
            <a:avLst>
              <a:gd name="adj" fmla="val 16150"/>
            </a:avLst>
          </a:prstGeom>
          <a:solidFill>
            <a:srgbClr val="22D3AC">
              <a:alpha val="15000"/>
            </a:srgbClr>
          </a:solidFill>
          <a:ln w="6350">
            <a:solidFill>
              <a:srgbClr val="FFFFFF">
                <a:alpha val="15000"/>
              </a:srgbClr>
            </a:solidFill>
            <a:prstDash val="solid"/>
          </a:ln>
        </p:spPr>
        <p:txBody>
          <a:bodyPr/>
          <a:lstStyle/>
          <a:p>
            <a:endParaRPr lang="es-CO"/>
          </a:p>
        </p:txBody>
      </p:sp>
      <p:pic>
        <p:nvPicPr>
          <p:cNvPr id="9" name="Image 3" descr="Settings">
            <a:extLst>
              <a:ext uri="{FF2B5EF4-FFF2-40B4-BE49-F238E27FC236}">
                <a16:creationId xmlns:a16="http://schemas.microsoft.com/office/drawing/2014/main" id="{AEF2711D-7E58-B4AC-85AC-9B8E8E860DC7}"/>
              </a:ext>
            </a:extLst>
          </p:cNvPr>
          <p:cNvPicPr>
            <a:picLocks noChangeAspect="1"/>
          </p:cNvPicPr>
          <p:nvPr/>
        </p:nvPicPr>
        <p:blipFill>
          <a:blip r:embed="rId6"/>
          <a:srcRect/>
          <a:stretch/>
        </p:blipFill>
        <p:spPr>
          <a:xfrm>
            <a:off x="4017473" y="3525455"/>
            <a:ext cx="215889" cy="215889"/>
          </a:xfrm>
          <a:prstGeom prst="rect">
            <a:avLst/>
          </a:prstGeom>
        </p:spPr>
      </p:pic>
      <p:sp>
        <p:nvSpPr>
          <p:cNvPr id="10" name="Text 4">
            <a:extLst>
              <a:ext uri="{FF2B5EF4-FFF2-40B4-BE49-F238E27FC236}">
                <a16:creationId xmlns:a16="http://schemas.microsoft.com/office/drawing/2014/main" id="{7D3789CB-9594-7E6B-4C95-ACE68951ED4E}"/>
              </a:ext>
            </a:extLst>
          </p:cNvPr>
          <p:cNvSpPr/>
          <p:nvPr/>
        </p:nvSpPr>
        <p:spPr>
          <a:xfrm>
            <a:off x="4360310" y="3508978"/>
            <a:ext cx="3928497" cy="27424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3FF"/>
                </a:solidFill>
                <a:latin typeface="Arial" pitchFamily="34" charset="0"/>
                <a:ea typeface="Arial" pitchFamily="34" charset="-122"/>
                <a:cs typeface="Arial" pitchFamily="34" charset="-120"/>
              </a:rPr>
              <a:t>Lógica de negocio — validaciones y cálculos</a:t>
            </a:r>
            <a:endParaRPr lang="en-US" sz="1400" dirty="0"/>
          </a:p>
        </p:txBody>
      </p:sp>
      <p:pic>
        <p:nvPicPr>
          <p:cNvPr id="11" name="Image 4" descr="arrow-down">
            <a:extLst>
              <a:ext uri="{FF2B5EF4-FFF2-40B4-BE49-F238E27FC236}">
                <a16:creationId xmlns:a16="http://schemas.microsoft.com/office/drawing/2014/main" id="{5EB52AAE-92D1-B122-EDB8-4689EB1A4238}"/>
              </a:ext>
            </a:extLst>
          </p:cNvPr>
          <p:cNvPicPr>
            <a:picLocks noChangeAspect="1"/>
          </p:cNvPicPr>
          <p:nvPr/>
        </p:nvPicPr>
        <p:blipFill>
          <a:blip r:embed="rId7"/>
          <a:srcRect l="-3" r="-3"/>
          <a:stretch/>
        </p:blipFill>
        <p:spPr>
          <a:xfrm>
            <a:off x="5918133" y="4030142"/>
            <a:ext cx="355593" cy="253982"/>
          </a:xfrm>
          <a:prstGeom prst="rect">
            <a:avLst/>
          </a:prstGeom>
        </p:spPr>
      </p:pic>
      <p:sp>
        <p:nvSpPr>
          <p:cNvPr id="12" name="Shape 5">
            <a:extLst>
              <a:ext uri="{FF2B5EF4-FFF2-40B4-BE49-F238E27FC236}">
                <a16:creationId xmlns:a16="http://schemas.microsoft.com/office/drawing/2014/main" id="{75B19A46-9190-24C3-F88F-829E749E8D9B}"/>
              </a:ext>
            </a:extLst>
          </p:cNvPr>
          <p:cNvSpPr/>
          <p:nvPr/>
        </p:nvSpPr>
        <p:spPr>
          <a:xfrm>
            <a:off x="3241604" y="4376153"/>
            <a:ext cx="5708650" cy="609426"/>
          </a:xfrm>
          <a:prstGeom prst="roundRect">
            <a:avLst>
              <a:gd name="adj" fmla="val 16150"/>
            </a:avLst>
          </a:prstGeom>
          <a:solidFill>
            <a:srgbClr val="8B5CF6">
              <a:alpha val="18000"/>
            </a:srgbClr>
          </a:solidFill>
          <a:ln w="6350">
            <a:solidFill>
              <a:srgbClr val="FFFFFF">
                <a:alpha val="15000"/>
              </a:srgbClr>
            </a:solidFill>
            <a:prstDash val="solid"/>
          </a:ln>
        </p:spPr>
        <p:txBody>
          <a:bodyPr/>
          <a:lstStyle/>
          <a:p>
            <a:endParaRPr lang="es-CO"/>
          </a:p>
        </p:txBody>
      </p:sp>
      <p:pic>
        <p:nvPicPr>
          <p:cNvPr id="13" name="Image 5" descr="Database">
            <a:extLst>
              <a:ext uri="{FF2B5EF4-FFF2-40B4-BE49-F238E27FC236}">
                <a16:creationId xmlns:a16="http://schemas.microsoft.com/office/drawing/2014/main" id="{97E34CC5-4A5E-1DD1-0AD7-551FA0A7DF56}"/>
              </a:ext>
            </a:extLst>
          </p:cNvPr>
          <p:cNvPicPr>
            <a:picLocks noChangeAspect="1"/>
          </p:cNvPicPr>
          <p:nvPr/>
        </p:nvPicPr>
        <p:blipFill>
          <a:blip r:embed="rId8"/>
          <a:srcRect/>
          <a:stretch/>
        </p:blipFill>
        <p:spPr>
          <a:xfrm>
            <a:off x="4896888" y="4572922"/>
            <a:ext cx="215889" cy="215889"/>
          </a:xfrm>
          <a:prstGeom prst="rect">
            <a:avLst/>
          </a:prstGeom>
        </p:spPr>
      </p:pic>
      <p:sp>
        <p:nvSpPr>
          <p:cNvPr id="14" name="Text 6">
            <a:extLst>
              <a:ext uri="{FF2B5EF4-FFF2-40B4-BE49-F238E27FC236}">
                <a16:creationId xmlns:a16="http://schemas.microsoft.com/office/drawing/2014/main" id="{A0A50948-D2AC-28B1-C2B6-967829958438}"/>
              </a:ext>
            </a:extLst>
          </p:cNvPr>
          <p:cNvSpPr/>
          <p:nvPr/>
        </p:nvSpPr>
        <p:spPr>
          <a:xfrm>
            <a:off x="5239724" y="4556444"/>
            <a:ext cx="2116812" cy="27424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3FF"/>
                </a:solidFill>
                <a:latin typeface="Arial" pitchFamily="34" charset="0"/>
                <a:ea typeface="Arial" pitchFamily="34" charset="-122"/>
                <a:cs typeface="Arial" pitchFamily="34" charset="-120"/>
              </a:rPr>
              <a:t>Base de datos — SQLite</a:t>
            </a:r>
            <a:endParaRPr lang="en-US" sz="1400" dirty="0"/>
          </a:p>
        </p:txBody>
      </p:sp>
      <p:sp>
        <p:nvSpPr>
          <p:cNvPr id="15" name="Text 7">
            <a:extLst>
              <a:ext uri="{FF2B5EF4-FFF2-40B4-BE49-F238E27FC236}">
                <a16:creationId xmlns:a16="http://schemas.microsoft.com/office/drawing/2014/main" id="{05097049-58B2-BBE0-9827-574F44BA9CCC}"/>
              </a:ext>
            </a:extLst>
          </p:cNvPr>
          <p:cNvSpPr/>
          <p:nvPr/>
        </p:nvSpPr>
        <p:spPr>
          <a:xfrm>
            <a:off x="812796" y="6256097"/>
            <a:ext cx="2183330" cy="220914"/>
          </a:xfrm>
          <a:prstGeom prst="rect">
            <a:avLst/>
          </a:prstGeom>
          <a:noFill/>
          <a:ln/>
        </p:spPr>
        <p:txBody>
          <a:bodyPr wrap="square" lIns="0" tIns="0" rIns="0" bIns="0" rtlCol="0" anchor="t">
            <a:normAutofit/>
          </a:bodyPr>
          <a:lstStyle/>
          <a:p>
            <a:pPr marL="0" indent="0" algn="l">
              <a:lnSpc>
                <a:spcPts val="1540"/>
              </a:lnSpc>
              <a:buNone/>
            </a:pPr>
            <a:endParaRPr lang="en-US" sz="1100" dirty="0"/>
          </a:p>
        </p:txBody>
      </p:sp>
      <p:pic>
        <p:nvPicPr>
          <p:cNvPr id="18" name="Imagen 17">
            <a:extLst>
              <a:ext uri="{FF2B5EF4-FFF2-40B4-BE49-F238E27FC236}">
                <a16:creationId xmlns:a16="http://schemas.microsoft.com/office/drawing/2014/main" id="{FDA51AF1-A843-0764-4C8D-5528840F24FC}"/>
              </a:ext>
            </a:extLst>
          </p:cNvPr>
          <p:cNvPicPr>
            <a:picLocks noChangeAspect="1"/>
          </p:cNvPicPr>
          <p:nvPr/>
        </p:nvPicPr>
        <p:blipFill>
          <a:blip r:embed="rId9"/>
          <a:stretch>
            <a:fillRect/>
          </a:stretch>
        </p:blipFill>
        <p:spPr>
          <a:xfrm>
            <a:off x="11255829" y="66786"/>
            <a:ext cx="827314" cy="810768"/>
          </a:xfrm>
          <a:prstGeom prst="rect">
            <a:avLst/>
          </a:prstGeom>
        </p:spPr>
      </p:pic>
    </p:spTree>
    <p:extLst>
      <p:ext uri="{BB962C8B-B14F-4D97-AF65-F5344CB8AC3E}">
        <p14:creationId xmlns:p14="http://schemas.microsoft.com/office/powerpoint/2010/main" val="35080548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6F3FF"/>
        </a:solidFill>
        <a:effectLst/>
      </p:bgPr>
    </p:bg>
    <p:spTree>
      <p:nvGrpSpPr>
        <p:cNvPr id="1" name=""/>
        <p:cNvGrpSpPr/>
        <p:nvPr/>
      </p:nvGrpSpPr>
      <p:grpSpPr>
        <a:xfrm>
          <a:off x="0" y="0"/>
          <a:ext cx="0" cy="0"/>
          <a:chOff x="0" y="0"/>
          <a:chExt cx="0" cy="0"/>
        </a:xfrm>
      </p:grpSpPr>
      <p:pic>
        <p:nvPicPr>
          <p:cNvPr id="2" name="Image 0" descr="Database"/>
          <p:cNvPicPr>
            <a:picLocks noChangeAspect="1"/>
          </p:cNvPicPr>
          <p:nvPr/>
        </p:nvPicPr>
        <p:blipFill>
          <a:blip r:embed="rId3"/>
          <a:srcRect/>
          <a:stretch/>
        </p:blipFill>
        <p:spPr>
          <a:xfrm>
            <a:off x="812796" y="884820"/>
            <a:ext cx="279318" cy="279318"/>
          </a:xfrm>
          <a:prstGeom prst="rect">
            <a:avLst/>
          </a:prstGeom>
        </p:spPr>
      </p:pic>
      <p:sp>
        <p:nvSpPr>
          <p:cNvPr id="3" name="Text 0"/>
          <p:cNvSpPr/>
          <p:nvPr/>
        </p:nvSpPr>
        <p:spPr>
          <a:xfrm>
            <a:off x="1193637" y="812797"/>
            <a:ext cx="3378363" cy="448851"/>
          </a:xfrm>
          <a:prstGeom prst="rect">
            <a:avLst/>
          </a:prstGeom>
          <a:noFill/>
          <a:ln/>
        </p:spPr>
        <p:txBody>
          <a:bodyPr wrap="square" lIns="0" tIns="0" rIns="0" bIns="0" rtlCol="0" anchor="t">
            <a:normAutofit fontScale="92500"/>
          </a:bodyPr>
          <a:lstStyle/>
          <a:p>
            <a:pPr marL="0" indent="0" algn="l">
              <a:lnSpc>
                <a:spcPts val="3335"/>
              </a:lnSpc>
              <a:buNone/>
            </a:pPr>
            <a:r>
              <a:rPr lang="en-US" sz="2900" b="1" dirty="0">
                <a:solidFill>
                  <a:srgbClr val="1D1830"/>
                </a:solidFill>
                <a:latin typeface="Arial" pitchFamily="34" charset="0"/>
                <a:ea typeface="Arial" pitchFamily="34" charset="-122"/>
                <a:cs typeface="Arial" pitchFamily="34" charset="-120"/>
              </a:rPr>
              <a:t>Diagrama De Clases</a:t>
            </a:r>
            <a:endParaRPr lang="en-US" sz="2900" dirty="0"/>
          </a:p>
        </p:txBody>
      </p:sp>
      <p:sp>
        <p:nvSpPr>
          <p:cNvPr id="7" name="Text 2"/>
          <p:cNvSpPr/>
          <p:nvPr/>
        </p:nvSpPr>
        <p:spPr>
          <a:xfrm>
            <a:off x="1104783" y="3836665"/>
            <a:ext cx="5674486" cy="247579"/>
          </a:xfrm>
          <a:prstGeom prst="rect">
            <a:avLst/>
          </a:prstGeom>
          <a:noFill/>
          <a:ln/>
        </p:spPr>
        <p:txBody>
          <a:bodyPr wrap="square" lIns="0" tIns="0" rIns="0" bIns="0" rtlCol="0" anchor="t">
            <a:normAutofit/>
          </a:bodyPr>
          <a:lstStyle/>
          <a:p>
            <a:pPr marL="0" indent="0" algn="l">
              <a:lnSpc>
                <a:spcPts val="1750"/>
              </a:lnSpc>
              <a:buNone/>
            </a:pPr>
            <a:endParaRPr lang="en-US" sz="1250" dirty="0"/>
          </a:p>
        </p:txBody>
      </p:sp>
      <p:sp>
        <p:nvSpPr>
          <p:cNvPr id="8" name="Text 3"/>
          <p:cNvSpPr/>
          <p:nvPr/>
        </p:nvSpPr>
        <p:spPr>
          <a:xfrm>
            <a:off x="812796" y="6256096"/>
            <a:ext cx="2183330" cy="220914"/>
          </a:xfrm>
          <a:prstGeom prst="rect">
            <a:avLst/>
          </a:prstGeom>
          <a:noFill/>
          <a:ln/>
        </p:spPr>
        <p:txBody>
          <a:bodyPr wrap="square" lIns="0" tIns="0" rIns="0" bIns="0" rtlCol="0" anchor="t">
            <a:normAutofit/>
          </a:bodyPr>
          <a:lstStyle/>
          <a:p>
            <a:pPr marL="0" indent="0" algn="l">
              <a:lnSpc>
                <a:spcPts val="1540"/>
              </a:lnSpc>
              <a:buNone/>
            </a:pPr>
            <a:endParaRPr lang="en-US" sz="1100" dirty="0"/>
          </a:p>
        </p:txBody>
      </p:sp>
      <p:pic>
        <p:nvPicPr>
          <p:cNvPr id="12" name="Imagen 11">
            <a:extLst>
              <a:ext uri="{FF2B5EF4-FFF2-40B4-BE49-F238E27FC236}">
                <a16:creationId xmlns:a16="http://schemas.microsoft.com/office/drawing/2014/main" id="{90F613EE-AE1C-0F70-0C45-C7E55FCA7BB5}"/>
              </a:ext>
            </a:extLst>
          </p:cNvPr>
          <p:cNvPicPr>
            <a:picLocks noChangeAspect="1"/>
          </p:cNvPicPr>
          <p:nvPr/>
        </p:nvPicPr>
        <p:blipFill>
          <a:blip r:embed="rId4"/>
          <a:stretch>
            <a:fillRect/>
          </a:stretch>
        </p:blipFill>
        <p:spPr>
          <a:xfrm>
            <a:off x="11231336" y="74052"/>
            <a:ext cx="827314" cy="810768"/>
          </a:xfrm>
          <a:prstGeom prst="rect">
            <a:avLst/>
          </a:prstGeom>
        </p:spPr>
      </p:pic>
      <p:pic>
        <p:nvPicPr>
          <p:cNvPr id="5" name="Imagen 4">
            <a:extLst>
              <a:ext uri="{FF2B5EF4-FFF2-40B4-BE49-F238E27FC236}">
                <a16:creationId xmlns:a16="http://schemas.microsoft.com/office/drawing/2014/main" id="{54324FD6-1056-28B4-6531-F19720ABD5DA}"/>
              </a:ext>
            </a:extLst>
          </p:cNvPr>
          <p:cNvPicPr>
            <a:picLocks noChangeAspect="1"/>
          </p:cNvPicPr>
          <p:nvPr/>
        </p:nvPicPr>
        <p:blipFill>
          <a:blip r:embed="rId5"/>
          <a:srcRect l="871" t="9404" r="1094" b="2165"/>
          <a:stretch>
            <a:fillRect/>
          </a:stretch>
        </p:blipFill>
        <p:spPr>
          <a:xfrm>
            <a:off x="1379765" y="1875432"/>
            <a:ext cx="9217478" cy="392246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chemeClr val="accent1">
            <a:lumMod val="75000"/>
          </a:schemeClr>
        </a:solidFill>
        <a:effectLst/>
      </p:bgPr>
    </p:bg>
    <p:spTree>
      <p:nvGrpSpPr>
        <p:cNvPr id="1" name=""/>
        <p:cNvGrpSpPr/>
        <p:nvPr/>
      </p:nvGrpSpPr>
      <p:grpSpPr>
        <a:xfrm>
          <a:off x="0" y="0"/>
          <a:ext cx="0" cy="0"/>
          <a:chOff x="0" y="0"/>
          <a:chExt cx="0" cy="0"/>
        </a:xfrm>
      </p:grpSpPr>
      <p:pic>
        <p:nvPicPr>
          <p:cNvPr id="2" name="Image 0" descr="Activity"/>
          <p:cNvPicPr>
            <a:picLocks noChangeAspect="1"/>
          </p:cNvPicPr>
          <p:nvPr/>
        </p:nvPicPr>
        <p:blipFill>
          <a:blip r:embed="rId3"/>
          <a:srcRect/>
          <a:stretch/>
        </p:blipFill>
        <p:spPr>
          <a:xfrm>
            <a:off x="812796" y="882957"/>
            <a:ext cx="253982" cy="253982"/>
          </a:xfrm>
          <a:prstGeom prst="rect">
            <a:avLst/>
          </a:prstGeom>
        </p:spPr>
      </p:pic>
      <p:sp>
        <p:nvSpPr>
          <p:cNvPr id="3" name="Text 0"/>
          <p:cNvSpPr/>
          <p:nvPr/>
        </p:nvSpPr>
        <p:spPr>
          <a:xfrm>
            <a:off x="1168301" y="812797"/>
            <a:ext cx="4455898" cy="419706"/>
          </a:xfrm>
          <a:prstGeom prst="rect">
            <a:avLst/>
          </a:prstGeom>
          <a:noFill/>
          <a:ln/>
        </p:spPr>
        <p:txBody>
          <a:bodyPr wrap="square" lIns="0" tIns="0" rIns="0" bIns="0" rtlCol="0" anchor="t">
            <a:normAutofit/>
          </a:bodyPr>
          <a:lstStyle/>
          <a:p>
            <a:pPr marL="0" indent="0" algn="l">
              <a:lnSpc>
                <a:spcPts val="3105"/>
              </a:lnSpc>
              <a:buNone/>
            </a:pPr>
            <a:r>
              <a:rPr lang="en-US" sz="2700" b="1" dirty="0">
                <a:solidFill>
                  <a:srgbClr val="F6F3FF"/>
                </a:solidFill>
                <a:latin typeface="Arial" pitchFamily="34" charset="0"/>
                <a:ea typeface="Arial" pitchFamily="34" charset="-122"/>
                <a:cs typeface="Arial" pitchFamily="34" charset="-120"/>
              </a:rPr>
              <a:t>Diagrama de casos de uso</a:t>
            </a:r>
            <a:endParaRPr lang="en-US" sz="2700" dirty="0"/>
          </a:p>
        </p:txBody>
      </p:sp>
      <p:sp>
        <p:nvSpPr>
          <p:cNvPr id="4" name="Shape 1"/>
          <p:cNvSpPr/>
          <p:nvPr/>
        </p:nvSpPr>
        <p:spPr>
          <a:xfrm>
            <a:off x="3714751" y="1397598"/>
            <a:ext cx="5061858" cy="4431736"/>
          </a:xfrm>
          <a:prstGeom prst="roundRect">
            <a:avLst>
              <a:gd name="adj" fmla="val 2579"/>
            </a:avLst>
          </a:prstGeom>
          <a:solidFill>
            <a:srgbClr val="FFFFFF"/>
          </a:solidFill>
          <a:ln w="25400">
            <a:solidFill>
              <a:srgbClr val="8B5CF6">
                <a:alpha val="35000"/>
              </a:srgbClr>
            </a:solidFill>
            <a:prstDash val="solid"/>
          </a:ln>
        </p:spPr>
        <p:txBody>
          <a:bodyPr/>
          <a:lstStyle/>
          <a:p>
            <a:endParaRPr lang="es-CO" dirty="0"/>
          </a:p>
        </p:txBody>
      </p:sp>
      <p:pic>
        <p:nvPicPr>
          <p:cNvPr id="5" name="Image 1" descr="Diagrama de casos de uso del sistema"/>
          <p:cNvPicPr>
            <a:picLocks noChangeAspect="1"/>
          </p:cNvPicPr>
          <p:nvPr/>
        </p:nvPicPr>
        <p:blipFill>
          <a:blip r:embed="rId4"/>
          <a:srcRect l="-158" r="-70"/>
          <a:stretch>
            <a:fillRect/>
          </a:stretch>
        </p:blipFill>
        <p:spPr>
          <a:xfrm>
            <a:off x="3743326" y="1454484"/>
            <a:ext cx="5004708" cy="4317964"/>
          </a:xfrm>
          <a:prstGeom prst="rect">
            <a:avLst/>
          </a:prstGeom>
        </p:spPr>
      </p:pic>
      <p:sp>
        <p:nvSpPr>
          <p:cNvPr id="6" name="Text 2"/>
          <p:cNvSpPr/>
          <p:nvPr/>
        </p:nvSpPr>
        <p:spPr>
          <a:xfrm>
            <a:off x="812796" y="6256096"/>
            <a:ext cx="3199261" cy="220914"/>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B8AEEA"/>
                </a:solidFill>
                <a:latin typeface="Arial" pitchFamily="34" charset="0"/>
                <a:ea typeface="Arial" pitchFamily="34" charset="-122"/>
                <a:cs typeface="Arial" pitchFamily="34" charset="-120"/>
              </a:rPr>
              <a:t>Actores: Administrador, Cliente, Usuario/Vendedor</a:t>
            </a:r>
            <a:endParaRPr lang="en-US" sz="1100" dirty="0"/>
          </a:p>
        </p:txBody>
      </p:sp>
      <p:pic>
        <p:nvPicPr>
          <p:cNvPr id="8" name="Imagen 7">
            <a:extLst>
              <a:ext uri="{FF2B5EF4-FFF2-40B4-BE49-F238E27FC236}">
                <a16:creationId xmlns:a16="http://schemas.microsoft.com/office/drawing/2014/main" id="{F3B5DD65-615A-C60E-6C74-EEBA4D173D59}"/>
              </a:ext>
            </a:extLst>
          </p:cNvPr>
          <p:cNvPicPr>
            <a:picLocks noChangeAspect="1"/>
          </p:cNvPicPr>
          <p:nvPr/>
        </p:nvPicPr>
        <p:blipFill>
          <a:blip r:embed="rId5"/>
          <a:stretch>
            <a:fillRect/>
          </a:stretch>
        </p:blipFill>
        <p:spPr>
          <a:xfrm>
            <a:off x="11255829" y="106136"/>
            <a:ext cx="827314" cy="810768"/>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6F3FF"/>
        </a:solidFill>
        <a:effectLst/>
      </p:bgPr>
    </p:bg>
    <p:spTree>
      <p:nvGrpSpPr>
        <p:cNvPr id="1" name=""/>
        <p:cNvGrpSpPr/>
        <p:nvPr/>
      </p:nvGrpSpPr>
      <p:grpSpPr>
        <a:xfrm>
          <a:off x="0" y="0"/>
          <a:ext cx="0" cy="0"/>
          <a:chOff x="0" y="0"/>
          <a:chExt cx="0" cy="0"/>
        </a:xfrm>
      </p:grpSpPr>
      <p:sp>
        <p:nvSpPr>
          <p:cNvPr id="2" name="Text 0"/>
          <p:cNvSpPr/>
          <p:nvPr/>
        </p:nvSpPr>
        <p:spPr>
          <a:xfrm>
            <a:off x="812796" y="6256099"/>
            <a:ext cx="2183330" cy="220914"/>
          </a:xfrm>
          <a:prstGeom prst="rect">
            <a:avLst/>
          </a:prstGeom>
          <a:noFill/>
          <a:ln/>
        </p:spPr>
        <p:txBody>
          <a:bodyPr wrap="square" lIns="0" tIns="0" rIns="0" bIns="0" rtlCol="0" anchor="t">
            <a:normAutofit/>
          </a:bodyPr>
          <a:lstStyle/>
          <a:p>
            <a:pPr marL="0" indent="0" algn="l">
              <a:lnSpc>
                <a:spcPts val="1540"/>
              </a:lnSpc>
              <a:buNone/>
            </a:pPr>
            <a:endParaRPr lang="en-US" sz="1100" dirty="0"/>
          </a:p>
        </p:txBody>
      </p:sp>
      <p:pic>
        <p:nvPicPr>
          <p:cNvPr id="3" name="Image 0" descr="Play"/>
          <p:cNvPicPr>
            <a:picLocks noChangeAspect="1"/>
          </p:cNvPicPr>
          <p:nvPr/>
        </p:nvPicPr>
        <p:blipFill>
          <a:blip r:embed="rId3"/>
          <a:srcRect/>
          <a:stretch/>
        </p:blipFill>
        <p:spPr>
          <a:xfrm>
            <a:off x="812796" y="898463"/>
            <a:ext cx="253982" cy="253982"/>
          </a:xfrm>
          <a:prstGeom prst="rect">
            <a:avLst/>
          </a:prstGeom>
        </p:spPr>
      </p:pic>
      <p:sp>
        <p:nvSpPr>
          <p:cNvPr id="4" name="Text 1"/>
          <p:cNvSpPr/>
          <p:nvPr/>
        </p:nvSpPr>
        <p:spPr>
          <a:xfrm>
            <a:off x="1168301" y="813770"/>
            <a:ext cx="5880884" cy="448851"/>
          </a:xfrm>
          <a:prstGeom prst="rect">
            <a:avLst/>
          </a:prstGeom>
          <a:noFill/>
          <a:ln/>
        </p:spPr>
        <p:txBody>
          <a:bodyPr wrap="square" lIns="0" tIns="0" rIns="0" bIns="0" rtlCol="0" anchor="t">
            <a:normAutofit/>
          </a:bodyPr>
          <a:lstStyle/>
          <a:p>
            <a:pPr marL="0" indent="0" algn="l">
              <a:lnSpc>
                <a:spcPts val="3335"/>
              </a:lnSpc>
              <a:buNone/>
            </a:pPr>
            <a:r>
              <a:rPr lang="en-US" sz="2900" b="1" dirty="0">
                <a:solidFill>
                  <a:srgbClr val="1D1830"/>
                </a:solidFill>
                <a:latin typeface="Arial" pitchFamily="34" charset="0"/>
                <a:ea typeface="Arial" pitchFamily="34" charset="-122"/>
                <a:cs typeface="Arial" pitchFamily="34" charset="-120"/>
              </a:rPr>
              <a:t>Diagrama de Secuencia</a:t>
            </a:r>
            <a:endParaRPr lang="en-US" sz="2900" dirty="0"/>
          </a:p>
        </p:txBody>
      </p:sp>
      <p:sp>
        <p:nvSpPr>
          <p:cNvPr id="7" name="Shape 3"/>
          <p:cNvSpPr/>
          <p:nvPr/>
        </p:nvSpPr>
        <p:spPr>
          <a:xfrm>
            <a:off x="812796" y="1460469"/>
            <a:ext cx="4282352" cy="0"/>
          </a:xfrm>
          <a:prstGeom prst="line">
            <a:avLst/>
          </a:prstGeom>
          <a:noFill/>
          <a:ln w="38100">
            <a:solidFill>
              <a:schemeClr val="accent1">
                <a:lumMod val="75000"/>
              </a:schemeClr>
            </a:solidFill>
            <a:prstDash val="solid"/>
          </a:ln>
        </p:spPr>
        <p:txBody>
          <a:bodyPr/>
          <a:lstStyle/>
          <a:p>
            <a:endParaRPr lang="es-CO"/>
          </a:p>
        </p:txBody>
      </p:sp>
      <p:sp>
        <p:nvSpPr>
          <p:cNvPr id="12" name="Shape 6"/>
          <p:cNvSpPr/>
          <p:nvPr/>
        </p:nvSpPr>
        <p:spPr>
          <a:xfrm>
            <a:off x="4394150" y="1460469"/>
            <a:ext cx="3962195" cy="0"/>
          </a:xfrm>
          <a:prstGeom prst="line">
            <a:avLst/>
          </a:prstGeom>
          <a:noFill/>
          <a:ln w="38100">
            <a:solidFill>
              <a:schemeClr val="accent1">
                <a:lumMod val="60000"/>
                <a:lumOff val="40000"/>
              </a:schemeClr>
            </a:solidFill>
            <a:prstDash val="solid"/>
          </a:ln>
        </p:spPr>
        <p:txBody>
          <a:bodyPr/>
          <a:lstStyle/>
          <a:p>
            <a:endParaRPr lang="es-CO"/>
          </a:p>
        </p:txBody>
      </p:sp>
      <p:sp>
        <p:nvSpPr>
          <p:cNvPr id="17" name="Shape 9"/>
          <p:cNvSpPr/>
          <p:nvPr/>
        </p:nvSpPr>
        <p:spPr>
          <a:xfrm>
            <a:off x="7975593" y="1460469"/>
            <a:ext cx="3467961" cy="0"/>
          </a:xfrm>
          <a:prstGeom prst="line">
            <a:avLst/>
          </a:prstGeom>
          <a:noFill/>
          <a:ln w="38100">
            <a:solidFill>
              <a:schemeClr val="accent1">
                <a:lumMod val="75000"/>
              </a:schemeClr>
            </a:solidFill>
            <a:prstDash val="solid"/>
          </a:ln>
        </p:spPr>
        <p:txBody>
          <a:bodyPr/>
          <a:lstStyle/>
          <a:p>
            <a:endParaRPr lang="es-CO"/>
          </a:p>
        </p:txBody>
      </p:sp>
      <p:pic>
        <p:nvPicPr>
          <p:cNvPr id="20" name="Imagen 19">
            <a:extLst>
              <a:ext uri="{FF2B5EF4-FFF2-40B4-BE49-F238E27FC236}">
                <a16:creationId xmlns:a16="http://schemas.microsoft.com/office/drawing/2014/main" id="{D1775F30-4983-5C47-266C-E785016B4AF2}"/>
              </a:ext>
            </a:extLst>
          </p:cNvPr>
          <p:cNvPicPr>
            <a:picLocks noChangeAspect="1"/>
          </p:cNvPicPr>
          <p:nvPr/>
        </p:nvPicPr>
        <p:blipFill>
          <a:blip r:embed="rId4"/>
          <a:srcRect l="7086" t="8462" r="3484" b="6267"/>
          <a:stretch>
            <a:fillRect/>
          </a:stretch>
        </p:blipFill>
        <p:spPr>
          <a:xfrm>
            <a:off x="3306536" y="1658318"/>
            <a:ext cx="5355771" cy="4385911"/>
          </a:xfrm>
          <a:prstGeom prst="rect">
            <a:avLst/>
          </a:prstGeom>
        </p:spPr>
      </p:pic>
      <p:pic>
        <p:nvPicPr>
          <p:cNvPr id="22" name="Imagen 21">
            <a:extLst>
              <a:ext uri="{FF2B5EF4-FFF2-40B4-BE49-F238E27FC236}">
                <a16:creationId xmlns:a16="http://schemas.microsoft.com/office/drawing/2014/main" id="{841F75E7-E85E-D3EB-3162-7380B22DC202}"/>
              </a:ext>
            </a:extLst>
          </p:cNvPr>
          <p:cNvPicPr>
            <a:picLocks noChangeAspect="1"/>
          </p:cNvPicPr>
          <p:nvPr/>
        </p:nvPicPr>
        <p:blipFill>
          <a:blip r:embed="rId5"/>
          <a:stretch>
            <a:fillRect/>
          </a:stretch>
        </p:blipFill>
        <p:spPr>
          <a:xfrm>
            <a:off x="11255829" y="106136"/>
            <a:ext cx="827314" cy="810768"/>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3FF"/>
        </a:solidFill>
        <a:effectLst/>
      </p:bgPr>
    </p:bg>
    <p:spTree>
      <p:nvGrpSpPr>
        <p:cNvPr id="1" name="">
          <a:extLst>
            <a:ext uri="{FF2B5EF4-FFF2-40B4-BE49-F238E27FC236}">
              <a16:creationId xmlns:a16="http://schemas.microsoft.com/office/drawing/2014/main" id="{6AED7201-8862-CB27-1E2B-74C4AC4AD10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4954FB5-2364-7A15-CD4D-8B3E2B8910CE}"/>
              </a:ext>
            </a:extLst>
          </p:cNvPr>
          <p:cNvSpPr/>
          <p:nvPr/>
        </p:nvSpPr>
        <p:spPr>
          <a:xfrm>
            <a:off x="812796" y="6256099"/>
            <a:ext cx="2183330" cy="220914"/>
          </a:xfrm>
          <a:prstGeom prst="rect">
            <a:avLst/>
          </a:prstGeom>
          <a:noFill/>
          <a:ln/>
        </p:spPr>
        <p:txBody>
          <a:bodyPr wrap="square" lIns="0" tIns="0" rIns="0" bIns="0" rtlCol="0" anchor="t">
            <a:normAutofit/>
          </a:bodyPr>
          <a:lstStyle/>
          <a:p>
            <a:pPr marL="0" indent="0" algn="l">
              <a:lnSpc>
                <a:spcPts val="1540"/>
              </a:lnSpc>
              <a:buNone/>
            </a:pPr>
            <a:endParaRPr lang="en-US" sz="1100" dirty="0"/>
          </a:p>
        </p:txBody>
      </p:sp>
      <p:pic>
        <p:nvPicPr>
          <p:cNvPr id="3" name="Image 0" descr="Play">
            <a:extLst>
              <a:ext uri="{FF2B5EF4-FFF2-40B4-BE49-F238E27FC236}">
                <a16:creationId xmlns:a16="http://schemas.microsoft.com/office/drawing/2014/main" id="{68B4B102-3FF3-1842-805A-CB121CCDBFBB}"/>
              </a:ext>
            </a:extLst>
          </p:cNvPr>
          <p:cNvPicPr>
            <a:picLocks noChangeAspect="1"/>
          </p:cNvPicPr>
          <p:nvPr/>
        </p:nvPicPr>
        <p:blipFill>
          <a:blip r:embed="rId3"/>
          <a:srcRect/>
          <a:stretch/>
        </p:blipFill>
        <p:spPr>
          <a:xfrm>
            <a:off x="806335" y="479350"/>
            <a:ext cx="253982" cy="253982"/>
          </a:xfrm>
          <a:prstGeom prst="rect">
            <a:avLst/>
          </a:prstGeom>
        </p:spPr>
      </p:pic>
      <p:sp>
        <p:nvSpPr>
          <p:cNvPr id="4" name="Text 1">
            <a:extLst>
              <a:ext uri="{FF2B5EF4-FFF2-40B4-BE49-F238E27FC236}">
                <a16:creationId xmlns:a16="http://schemas.microsoft.com/office/drawing/2014/main" id="{EB7E992F-A43B-73C7-9858-81D648FCA06C}"/>
              </a:ext>
            </a:extLst>
          </p:cNvPr>
          <p:cNvSpPr/>
          <p:nvPr/>
        </p:nvSpPr>
        <p:spPr>
          <a:xfrm>
            <a:off x="1161839" y="394657"/>
            <a:ext cx="3211907" cy="448851"/>
          </a:xfrm>
          <a:prstGeom prst="rect">
            <a:avLst/>
          </a:prstGeom>
          <a:noFill/>
          <a:ln/>
        </p:spPr>
        <p:txBody>
          <a:bodyPr wrap="square" lIns="0" tIns="0" rIns="0" bIns="0" rtlCol="0" anchor="t">
            <a:normAutofit fontScale="70000" lnSpcReduction="20000"/>
          </a:bodyPr>
          <a:lstStyle/>
          <a:p>
            <a:pPr marL="0" indent="0" algn="l">
              <a:lnSpc>
                <a:spcPts val="3335"/>
              </a:lnSpc>
              <a:buNone/>
            </a:pPr>
            <a:r>
              <a:rPr lang="en-US" sz="2900" b="1" dirty="0">
                <a:solidFill>
                  <a:srgbClr val="1D1830"/>
                </a:solidFill>
                <a:latin typeface="Arial" pitchFamily="34" charset="0"/>
                <a:ea typeface="Arial" pitchFamily="34" charset="-122"/>
                <a:cs typeface="Arial" pitchFamily="34" charset="-120"/>
              </a:rPr>
              <a:t> Algunas de las Interfaces</a:t>
            </a:r>
            <a:endParaRPr lang="en-US" sz="2900" dirty="0"/>
          </a:p>
        </p:txBody>
      </p:sp>
      <p:grpSp>
        <p:nvGrpSpPr>
          <p:cNvPr id="21" name="Grupo 20">
            <a:extLst>
              <a:ext uri="{FF2B5EF4-FFF2-40B4-BE49-F238E27FC236}">
                <a16:creationId xmlns:a16="http://schemas.microsoft.com/office/drawing/2014/main" id="{18203FB3-2769-08FA-8291-2C978FBF44BF}"/>
              </a:ext>
            </a:extLst>
          </p:cNvPr>
          <p:cNvGrpSpPr/>
          <p:nvPr/>
        </p:nvGrpSpPr>
        <p:grpSpPr>
          <a:xfrm>
            <a:off x="792393" y="1093076"/>
            <a:ext cx="7543549" cy="0"/>
            <a:chOff x="812796" y="1460469"/>
            <a:chExt cx="7543549" cy="0"/>
          </a:xfrm>
        </p:grpSpPr>
        <p:sp>
          <p:nvSpPr>
            <p:cNvPr id="7" name="Shape 3">
              <a:extLst>
                <a:ext uri="{FF2B5EF4-FFF2-40B4-BE49-F238E27FC236}">
                  <a16:creationId xmlns:a16="http://schemas.microsoft.com/office/drawing/2014/main" id="{61F337AC-6DEC-74BE-D672-013E5FF6388C}"/>
                </a:ext>
              </a:extLst>
            </p:cNvPr>
            <p:cNvSpPr/>
            <p:nvPr/>
          </p:nvSpPr>
          <p:spPr>
            <a:xfrm>
              <a:off x="812796" y="1460469"/>
              <a:ext cx="4282352" cy="0"/>
            </a:xfrm>
            <a:prstGeom prst="line">
              <a:avLst/>
            </a:prstGeom>
            <a:noFill/>
            <a:ln w="38100">
              <a:solidFill>
                <a:schemeClr val="accent1">
                  <a:lumMod val="75000"/>
                </a:schemeClr>
              </a:solidFill>
              <a:prstDash val="solid"/>
            </a:ln>
          </p:spPr>
          <p:txBody>
            <a:bodyPr/>
            <a:lstStyle/>
            <a:p>
              <a:endParaRPr lang="es-CO"/>
            </a:p>
          </p:txBody>
        </p:sp>
        <p:sp>
          <p:nvSpPr>
            <p:cNvPr id="12" name="Shape 6">
              <a:extLst>
                <a:ext uri="{FF2B5EF4-FFF2-40B4-BE49-F238E27FC236}">
                  <a16:creationId xmlns:a16="http://schemas.microsoft.com/office/drawing/2014/main" id="{7C9734BC-7CC8-A1A8-A902-71BB29541C65}"/>
                </a:ext>
              </a:extLst>
            </p:cNvPr>
            <p:cNvSpPr/>
            <p:nvPr/>
          </p:nvSpPr>
          <p:spPr>
            <a:xfrm>
              <a:off x="4394150" y="1460469"/>
              <a:ext cx="3962195" cy="0"/>
            </a:xfrm>
            <a:prstGeom prst="line">
              <a:avLst/>
            </a:prstGeom>
            <a:noFill/>
            <a:ln w="38100">
              <a:solidFill>
                <a:schemeClr val="accent1">
                  <a:lumMod val="60000"/>
                  <a:lumOff val="40000"/>
                </a:schemeClr>
              </a:solidFill>
              <a:prstDash val="solid"/>
            </a:ln>
          </p:spPr>
          <p:txBody>
            <a:bodyPr/>
            <a:lstStyle/>
            <a:p>
              <a:endParaRPr lang="es-CO"/>
            </a:p>
          </p:txBody>
        </p:sp>
      </p:grpSp>
      <p:sp>
        <p:nvSpPr>
          <p:cNvPr id="17" name="Shape 9">
            <a:extLst>
              <a:ext uri="{FF2B5EF4-FFF2-40B4-BE49-F238E27FC236}">
                <a16:creationId xmlns:a16="http://schemas.microsoft.com/office/drawing/2014/main" id="{33967B81-6F4D-053F-8608-23BF7D87C5E9}"/>
              </a:ext>
            </a:extLst>
          </p:cNvPr>
          <p:cNvSpPr/>
          <p:nvPr/>
        </p:nvSpPr>
        <p:spPr>
          <a:xfrm>
            <a:off x="7961933" y="1083035"/>
            <a:ext cx="3467961" cy="0"/>
          </a:xfrm>
          <a:prstGeom prst="line">
            <a:avLst/>
          </a:prstGeom>
          <a:noFill/>
          <a:ln w="38100">
            <a:solidFill>
              <a:schemeClr val="accent1">
                <a:lumMod val="75000"/>
              </a:schemeClr>
            </a:solidFill>
            <a:prstDash val="solid"/>
          </a:ln>
        </p:spPr>
        <p:txBody>
          <a:bodyPr/>
          <a:lstStyle/>
          <a:p>
            <a:endParaRPr lang="es-CO"/>
          </a:p>
        </p:txBody>
      </p:sp>
      <p:pic>
        <p:nvPicPr>
          <p:cNvPr id="22" name="Imagen 21">
            <a:extLst>
              <a:ext uri="{FF2B5EF4-FFF2-40B4-BE49-F238E27FC236}">
                <a16:creationId xmlns:a16="http://schemas.microsoft.com/office/drawing/2014/main" id="{FA65E2F5-C85D-3FC0-F408-6DAC72898E13}"/>
              </a:ext>
            </a:extLst>
          </p:cNvPr>
          <p:cNvPicPr>
            <a:picLocks noChangeAspect="1"/>
          </p:cNvPicPr>
          <p:nvPr/>
        </p:nvPicPr>
        <p:blipFill>
          <a:blip r:embed="rId4"/>
          <a:stretch>
            <a:fillRect/>
          </a:stretch>
        </p:blipFill>
        <p:spPr>
          <a:xfrm>
            <a:off x="11255829" y="106136"/>
            <a:ext cx="827314" cy="810768"/>
          </a:xfrm>
          <a:prstGeom prst="rect">
            <a:avLst/>
          </a:prstGeom>
        </p:spPr>
      </p:pic>
      <p:pic>
        <p:nvPicPr>
          <p:cNvPr id="6" name="Imagen 5">
            <a:extLst>
              <a:ext uri="{FF2B5EF4-FFF2-40B4-BE49-F238E27FC236}">
                <a16:creationId xmlns:a16="http://schemas.microsoft.com/office/drawing/2014/main" id="{396ADC37-82A6-59BD-6DA0-9CC665910B56}"/>
              </a:ext>
            </a:extLst>
          </p:cNvPr>
          <p:cNvPicPr>
            <a:picLocks noChangeAspect="1"/>
          </p:cNvPicPr>
          <p:nvPr/>
        </p:nvPicPr>
        <p:blipFill>
          <a:blip r:embed="rId5"/>
          <a:stretch>
            <a:fillRect/>
          </a:stretch>
        </p:blipFill>
        <p:spPr>
          <a:xfrm>
            <a:off x="792393" y="1226593"/>
            <a:ext cx="3519107" cy="2469226"/>
          </a:xfrm>
          <a:prstGeom prst="rect">
            <a:avLst/>
          </a:prstGeom>
        </p:spPr>
      </p:pic>
      <p:sp>
        <p:nvSpPr>
          <p:cNvPr id="8" name="CuadroTexto 7">
            <a:extLst>
              <a:ext uri="{FF2B5EF4-FFF2-40B4-BE49-F238E27FC236}">
                <a16:creationId xmlns:a16="http://schemas.microsoft.com/office/drawing/2014/main" id="{0F8F6EA6-93D4-2465-32CD-E97AF031DD01}"/>
              </a:ext>
            </a:extLst>
          </p:cNvPr>
          <p:cNvSpPr txBox="1"/>
          <p:nvPr/>
        </p:nvSpPr>
        <p:spPr>
          <a:xfrm>
            <a:off x="2207941" y="3621126"/>
            <a:ext cx="688009" cy="369332"/>
          </a:xfrm>
          <a:prstGeom prst="rect">
            <a:avLst/>
          </a:prstGeom>
          <a:noFill/>
        </p:spPr>
        <p:txBody>
          <a:bodyPr wrap="none" rtlCol="0">
            <a:spAutoFit/>
          </a:bodyPr>
          <a:lstStyle/>
          <a:p>
            <a:r>
              <a:rPr lang="es-CO" b="1" dirty="0">
                <a:solidFill>
                  <a:schemeClr val="accent1">
                    <a:lumMod val="75000"/>
                  </a:schemeClr>
                </a:solidFill>
              </a:rPr>
              <a:t>Login</a:t>
            </a:r>
          </a:p>
        </p:txBody>
      </p:sp>
      <p:pic>
        <p:nvPicPr>
          <p:cNvPr id="10" name="Imagen 9">
            <a:extLst>
              <a:ext uri="{FF2B5EF4-FFF2-40B4-BE49-F238E27FC236}">
                <a16:creationId xmlns:a16="http://schemas.microsoft.com/office/drawing/2014/main" id="{CA115A05-F021-CF09-AABC-F04626C230E2}"/>
              </a:ext>
            </a:extLst>
          </p:cNvPr>
          <p:cNvPicPr>
            <a:picLocks noChangeAspect="1"/>
          </p:cNvPicPr>
          <p:nvPr/>
        </p:nvPicPr>
        <p:blipFill>
          <a:blip r:embed="rId6"/>
          <a:stretch>
            <a:fillRect/>
          </a:stretch>
        </p:blipFill>
        <p:spPr>
          <a:xfrm>
            <a:off x="4557337" y="1226593"/>
            <a:ext cx="3519107" cy="2470177"/>
          </a:xfrm>
          <a:prstGeom prst="rect">
            <a:avLst/>
          </a:prstGeom>
        </p:spPr>
      </p:pic>
      <p:sp>
        <p:nvSpPr>
          <p:cNvPr id="11" name="CuadroTexto 10">
            <a:extLst>
              <a:ext uri="{FF2B5EF4-FFF2-40B4-BE49-F238E27FC236}">
                <a16:creationId xmlns:a16="http://schemas.microsoft.com/office/drawing/2014/main" id="{6921BF78-DADD-8A61-254D-3E726869DAAA}"/>
              </a:ext>
            </a:extLst>
          </p:cNvPr>
          <p:cNvSpPr txBox="1"/>
          <p:nvPr/>
        </p:nvSpPr>
        <p:spPr>
          <a:xfrm>
            <a:off x="5873366" y="3645620"/>
            <a:ext cx="962956" cy="369332"/>
          </a:xfrm>
          <a:prstGeom prst="rect">
            <a:avLst/>
          </a:prstGeom>
          <a:noFill/>
        </p:spPr>
        <p:txBody>
          <a:bodyPr wrap="none" rtlCol="0">
            <a:spAutoFit/>
          </a:bodyPr>
          <a:lstStyle/>
          <a:p>
            <a:r>
              <a:rPr lang="es-CO" b="1" dirty="0">
                <a:solidFill>
                  <a:schemeClr val="accent1">
                    <a:lumMod val="75000"/>
                  </a:schemeClr>
                </a:solidFill>
              </a:rPr>
              <a:t>Registro</a:t>
            </a:r>
          </a:p>
        </p:txBody>
      </p:sp>
      <p:pic>
        <p:nvPicPr>
          <p:cNvPr id="14" name="Imagen 13">
            <a:extLst>
              <a:ext uri="{FF2B5EF4-FFF2-40B4-BE49-F238E27FC236}">
                <a16:creationId xmlns:a16="http://schemas.microsoft.com/office/drawing/2014/main" id="{83DAB48B-B078-B18B-F65A-25C5CA43F7F7}"/>
              </a:ext>
            </a:extLst>
          </p:cNvPr>
          <p:cNvPicPr>
            <a:picLocks noChangeAspect="1"/>
          </p:cNvPicPr>
          <p:nvPr/>
        </p:nvPicPr>
        <p:blipFill>
          <a:blip r:embed="rId7"/>
          <a:stretch>
            <a:fillRect/>
          </a:stretch>
        </p:blipFill>
        <p:spPr>
          <a:xfrm>
            <a:off x="8322282" y="1249167"/>
            <a:ext cx="3107612" cy="2469227"/>
          </a:xfrm>
          <a:prstGeom prst="rect">
            <a:avLst/>
          </a:prstGeom>
        </p:spPr>
      </p:pic>
      <p:sp>
        <p:nvSpPr>
          <p:cNvPr id="15" name="CuadroTexto 14">
            <a:extLst>
              <a:ext uri="{FF2B5EF4-FFF2-40B4-BE49-F238E27FC236}">
                <a16:creationId xmlns:a16="http://schemas.microsoft.com/office/drawing/2014/main" id="{74ED2C75-B06F-E7E0-386F-168B17F2C40B}"/>
              </a:ext>
            </a:extLst>
          </p:cNvPr>
          <p:cNvSpPr txBox="1"/>
          <p:nvPr/>
        </p:nvSpPr>
        <p:spPr>
          <a:xfrm>
            <a:off x="9525671" y="3645620"/>
            <a:ext cx="700833" cy="369332"/>
          </a:xfrm>
          <a:prstGeom prst="rect">
            <a:avLst/>
          </a:prstGeom>
          <a:noFill/>
        </p:spPr>
        <p:txBody>
          <a:bodyPr wrap="none" rtlCol="0">
            <a:spAutoFit/>
          </a:bodyPr>
          <a:lstStyle/>
          <a:p>
            <a:r>
              <a:rPr lang="es-CO" b="1" dirty="0">
                <a:solidFill>
                  <a:schemeClr val="accent1">
                    <a:lumMod val="75000"/>
                  </a:schemeClr>
                </a:solidFill>
              </a:rPr>
              <a:t>Inicio</a:t>
            </a:r>
          </a:p>
        </p:txBody>
      </p:sp>
      <p:pic>
        <p:nvPicPr>
          <p:cNvPr id="18" name="Imagen 17">
            <a:extLst>
              <a:ext uri="{FF2B5EF4-FFF2-40B4-BE49-F238E27FC236}">
                <a16:creationId xmlns:a16="http://schemas.microsoft.com/office/drawing/2014/main" id="{70FAA497-1FDD-951B-2E94-6179473168F7}"/>
              </a:ext>
            </a:extLst>
          </p:cNvPr>
          <p:cNvPicPr>
            <a:picLocks noChangeAspect="1"/>
          </p:cNvPicPr>
          <p:nvPr/>
        </p:nvPicPr>
        <p:blipFill>
          <a:blip r:embed="rId8"/>
          <a:stretch>
            <a:fillRect/>
          </a:stretch>
        </p:blipFill>
        <p:spPr>
          <a:xfrm>
            <a:off x="792393" y="4014952"/>
            <a:ext cx="3499039" cy="2542741"/>
          </a:xfrm>
          <a:prstGeom prst="rect">
            <a:avLst/>
          </a:prstGeom>
        </p:spPr>
      </p:pic>
      <p:sp>
        <p:nvSpPr>
          <p:cNvPr id="23" name="CuadroTexto 22">
            <a:extLst>
              <a:ext uri="{FF2B5EF4-FFF2-40B4-BE49-F238E27FC236}">
                <a16:creationId xmlns:a16="http://schemas.microsoft.com/office/drawing/2014/main" id="{639084CD-E9BC-D8D5-137B-AADE20AFA0A0}"/>
              </a:ext>
            </a:extLst>
          </p:cNvPr>
          <p:cNvSpPr txBox="1"/>
          <p:nvPr/>
        </p:nvSpPr>
        <p:spPr>
          <a:xfrm>
            <a:off x="2216661" y="6491165"/>
            <a:ext cx="687496" cy="369332"/>
          </a:xfrm>
          <a:prstGeom prst="rect">
            <a:avLst/>
          </a:prstGeom>
          <a:noFill/>
        </p:spPr>
        <p:txBody>
          <a:bodyPr wrap="none" rtlCol="0">
            <a:spAutoFit/>
          </a:bodyPr>
          <a:lstStyle/>
          <a:p>
            <a:r>
              <a:rPr lang="es-CO" b="1" dirty="0">
                <a:solidFill>
                  <a:schemeClr val="accent1">
                    <a:lumMod val="75000"/>
                  </a:schemeClr>
                </a:solidFill>
              </a:rPr>
              <a:t>Perfil</a:t>
            </a:r>
          </a:p>
        </p:txBody>
      </p:sp>
      <p:pic>
        <p:nvPicPr>
          <p:cNvPr id="25" name="Imagen 24">
            <a:extLst>
              <a:ext uri="{FF2B5EF4-FFF2-40B4-BE49-F238E27FC236}">
                <a16:creationId xmlns:a16="http://schemas.microsoft.com/office/drawing/2014/main" id="{BBF58E96-8ABF-263D-B8CE-EB67F5BD20E2}"/>
              </a:ext>
            </a:extLst>
          </p:cNvPr>
          <p:cNvPicPr>
            <a:picLocks noChangeAspect="1"/>
          </p:cNvPicPr>
          <p:nvPr/>
        </p:nvPicPr>
        <p:blipFill>
          <a:blip r:embed="rId9"/>
          <a:srcRect b="6994"/>
          <a:stretch>
            <a:fillRect/>
          </a:stretch>
        </p:blipFill>
        <p:spPr>
          <a:xfrm>
            <a:off x="4557337" y="3999266"/>
            <a:ext cx="3519107" cy="2558428"/>
          </a:xfrm>
          <a:prstGeom prst="rect">
            <a:avLst/>
          </a:prstGeom>
        </p:spPr>
      </p:pic>
      <p:sp>
        <p:nvSpPr>
          <p:cNvPr id="26" name="CuadroTexto 25">
            <a:extLst>
              <a:ext uri="{FF2B5EF4-FFF2-40B4-BE49-F238E27FC236}">
                <a16:creationId xmlns:a16="http://schemas.microsoft.com/office/drawing/2014/main" id="{8A3B2C88-FEC1-30BF-13A8-5E4C65A48188}"/>
              </a:ext>
            </a:extLst>
          </p:cNvPr>
          <p:cNvSpPr txBox="1"/>
          <p:nvPr/>
        </p:nvSpPr>
        <p:spPr>
          <a:xfrm>
            <a:off x="5633914" y="6474836"/>
            <a:ext cx="1395254" cy="369332"/>
          </a:xfrm>
          <a:prstGeom prst="rect">
            <a:avLst/>
          </a:prstGeom>
          <a:noFill/>
        </p:spPr>
        <p:txBody>
          <a:bodyPr wrap="none" rtlCol="0">
            <a:spAutoFit/>
          </a:bodyPr>
          <a:lstStyle/>
          <a:p>
            <a:r>
              <a:rPr lang="es-CO" b="1" dirty="0">
                <a:solidFill>
                  <a:schemeClr val="accent1">
                    <a:lumMod val="75000"/>
                  </a:schemeClr>
                </a:solidFill>
              </a:rPr>
              <a:t>Panel Admin</a:t>
            </a:r>
          </a:p>
        </p:txBody>
      </p:sp>
      <p:pic>
        <p:nvPicPr>
          <p:cNvPr id="28" name="Imagen 27">
            <a:extLst>
              <a:ext uri="{FF2B5EF4-FFF2-40B4-BE49-F238E27FC236}">
                <a16:creationId xmlns:a16="http://schemas.microsoft.com/office/drawing/2014/main" id="{14A6BF03-4B54-88A3-9886-BEABC11675D3}"/>
              </a:ext>
            </a:extLst>
          </p:cNvPr>
          <p:cNvPicPr>
            <a:picLocks noChangeAspect="1"/>
          </p:cNvPicPr>
          <p:nvPr/>
        </p:nvPicPr>
        <p:blipFill>
          <a:blip r:embed="rId10"/>
          <a:stretch>
            <a:fillRect/>
          </a:stretch>
        </p:blipFill>
        <p:spPr>
          <a:xfrm>
            <a:off x="8322282" y="4005607"/>
            <a:ext cx="3140415" cy="2552083"/>
          </a:xfrm>
          <a:prstGeom prst="rect">
            <a:avLst/>
          </a:prstGeom>
        </p:spPr>
      </p:pic>
      <p:sp>
        <p:nvSpPr>
          <p:cNvPr id="29" name="CuadroTexto 28">
            <a:extLst>
              <a:ext uri="{FF2B5EF4-FFF2-40B4-BE49-F238E27FC236}">
                <a16:creationId xmlns:a16="http://schemas.microsoft.com/office/drawing/2014/main" id="{C2C469FA-739E-7DB1-D88D-DD0075EA2EAC}"/>
              </a:ext>
            </a:extLst>
          </p:cNvPr>
          <p:cNvSpPr txBox="1"/>
          <p:nvPr/>
        </p:nvSpPr>
        <p:spPr>
          <a:xfrm>
            <a:off x="8793726" y="6483001"/>
            <a:ext cx="2225674" cy="369332"/>
          </a:xfrm>
          <a:prstGeom prst="rect">
            <a:avLst/>
          </a:prstGeom>
          <a:noFill/>
        </p:spPr>
        <p:txBody>
          <a:bodyPr wrap="none" rtlCol="0">
            <a:spAutoFit/>
          </a:bodyPr>
          <a:lstStyle/>
          <a:p>
            <a:r>
              <a:rPr lang="es-CO" b="1" dirty="0">
                <a:solidFill>
                  <a:schemeClr val="accent1">
                    <a:lumMod val="75000"/>
                  </a:schemeClr>
                </a:solidFill>
              </a:rPr>
              <a:t>Gestion de productos</a:t>
            </a:r>
          </a:p>
        </p:txBody>
      </p:sp>
    </p:spTree>
    <p:extLst>
      <p:ext uri="{BB962C8B-B14F-4D97-AF65-F5344CB8AC3E}">
        <p14:creationId xmlns:p14="http://schemas.microsoft.com/office/powerpoint/2010/main" val="1964682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chemeClr val="accent1">
            <a:lumMod val="75000"/>
          </a:schemeClr>
        </a:solidFill>
        <a:effectLst/>
      </p:bgPr>
    </p:bg>
    <p:spTree>
      <p:nvGrpSpPr>
        <p:cNvPr id="1" name=""/>
        <p:cNvGrpSpPr/>
        <p:nvPr/>
      </p:nvGrpSpPr>
      <p:grpSpPr>
        <a:xfrm>
          <a:off x="0" y="0"/>
          <a:ext cx="0" cy="0"/>
          <a:chOff x="0" y="0"/>
          <a:chExt cx="0" cy="0"/>
        </a:xfrm>
      </p:grpSpPr>
      <p:pic>
        <p:nvPicPr>
          <p:cNvPr id="3" name="Image 0" descr="ellipse"/>
          <p:cNvPicPr>
            <a:picLocks noChangeAspect="1"/>
          </p:cNvPicPr>
          <p:nvPr/>
        </p:nvPicPr>
        <p:blipFill>
          <a:blip r:embed="rId3"/>
          <a:srcRect/>
          <a:stretch/>
        </p:blipFill>
        <p:spPr>
          <a:xfrm>
            <a:off x="9143982" y="3810000"/>
            <a:ext cx="3047965" cy="3047965"/>
          </a:xfrm>
          <a:prstGeom prst="rect">
            <a:avLst/>
          </a:prstGeom>
        </p:spPr>
      </p:pic>
      <p:pic>
        <p:nvPicPr>
          <p:cNvPr id="4" name="Image 1" descr="Wrench"/>
          <p:cNvPicPr>
            <a:picLocks noChangeAspect="1"/>
          </p:cNvPicPr>
          <p:nvPr/>
        </p:nvPicPr>
        <p:blipFill>
          <a:blip r:embed="rId4"/>
          <a:srcRect/>
          <a:stretch/>
        </p:blipFill>
        <p:spPr>
          <a:xfrm>
            <a:off x="843847" y="1261648"/>
            <a:ext cx="279318" cy="279318"/>
          </a:xfrm>
          <a:prstGeom prst="rect">
            <a:avLst/>
          </a:prstGeom>
        </p:spPr>
      </p:pic>
      <p:sp>
        <p:nvSpPr>
          <p:cNvPr id="5" name="Text 1"/>
          <p:cNvSpPr/>
          <p:nvPr/>
        </p:nvSpPr>
        <p:spPr>
          <a:xfrm>
            <a:off x="1181057" y="1176881"/>
            <a:ext cx="4019105" cy="448851"/>
          </a:xfrm>
          <a:prstGeom prst="rect">
            <a:avLst/>
          </a:prstGeom>
          <a:noFill/>
          <a:ln/>
        </p:spPr>
        <p:txBody>
          <a:bodyPr wrap="square" lIns="0" tIns="0" rIns="0" bIns="0" rtlCol="0" anchor="t">
            <a:normAutofit/>
          </a:bodyPr>
          <a:lstStyle/>
          <a:p>
            <a:pPr marL="0" indent="0" algn="l">
              <a:lnSpc>
                <a:spcPts val="3335"/>
              </a:lnSpc>
              <a:buNone/>
            </a:pPr>
            <a:r>
              <a:rPr lang="en-US" sz="2900" b="1" dirty="0">
                <a:solidFill>
                  <a:srgbClr val="F6F3FF"/>
                </a:solidFill>
                <a:latin typeface="Arial" pitchFamily="34" charset="0"/>
                <a:ea typeface="Arial" pitchFamily="34" charset="-122"/>
                <a:cs typeface="Arial" pitchFamily="34" charset="-120"/>
              </a:rPr>
              <a:t>Tecnologías utilizadas</a:t>
            </a:r>
            <a:endParaRPr lang="en-US" sz="2900" dirty="0"/>
          </a:p>
        </p:txBody>
      </p:sp>
      <p:grpSp>
        <p:nvGrpSpPr>
          <p:cNvPr id="20" name="Grupo 19">
            <a:extLst>
              <a:ext uri="{FF2B5EF4-FFF2-40B4-BE49-F238E27FC236}">
                <a16:creationId xmlns:a16="http://schemas.microsoft.com/office/drawing/2014/main" id="{03FC7B14-CA5D-4A8D-2EA4-BCE14C9C5A0F}"/>
              </a:ext>
            </a:extLst>
          </p:cNvPr>
          <p:cNvGrpSpPr/>
          <p:nvPr/>
        </p:nvGrpSpPr>
        <p:grpSpPr>
          <a:xfrm>
            <a:off x="815971" y="2609820"/>
            <a:ext cx="3414128" cy="1023310"/>
            <a:chOff x="815971" y="1239422"/>
            <a:chExt cx="3414128" cy="1023310"/>
          </a:xfrm>
        </p:grpSpPr>
        <p:sp>
          <p:nvSpPr>
            <p:cNvPr id="6" name="Shape 2"/>
            <p:cNvSpPr/>
            <p:nvPr/>
          </p:nvSpPr>
          <p:spPr>
            <a:xfrm>
              <a:off x="815971" y="1239422"/>
              <a:ext cx="3414128" cy="1023310"/>
            </a:xfrm>
            <a:prstGeom prst="roundRect">
              <a:avLst>
                <a:gd name="adj" fmla="val 9618"/>
              </a:avLst>
            </a:prstGeom>
            <a:solidFill>
              <a:srgbClr val="FFFFFF">
                <a:alpha val="8000"/>
              </a:srgbClr>
            </a:solidFill>
            <a:ln w="6350">
              <a:solidFill>
                <a:srgbClr val="FFFFFF">
                  <a:alpha val="14000"/>
                </a:srgbClr>
              </a:solidFill>
              <a:prstDash val="solid"/>
            </a:ln>
          </p:spPr>
          <p:txBody>
            <a:bodyPr/>
            <a:lstStyle/>
            <a:p>
              <a:endParaRPr lang="es-CO"/>
            </a:p>
          </p:txBody>
        </p:sp>
        <p:pic>
          <p:nvPicPr>
            <p:cNvPr id="7" name="Image 2" descr="Code"/>
            <p:cNvPicPr>
              <a:picLocks noChangeAspect="1"/>
            </p:cNvPicPr>
            <p:nvPr/>
          </p:nvPicPr>
          <p:blipFill>
            <a:blip r:embed="rId5"/>
            <a:srcRect/>
            <a:stretch/>
          </p:blipFill>
          <p:spPr>
            <a:xfrm>
              <a:off x="1021599" y="1445050"/>
              <a:ext cx="203133" cy="203133"/>
            </a:xfrm>
            <a:prstGeom prst="rect">
              <a:avLst/>
            </a:prstGeom>
          </p:spPr>
        </p:pic>
        <p:sp>
          <p:nvSpPr>
            <p:cNvPr id="8" name="Text 3"/>
            <p:cNvSpPr/>
            <p:nvPr/>
          </p:nvSpPr>
          <p:spPr>
            <a:xfrm>
              <a:off x="1021599" y="1648182"/>
              <a:ext cx="3092959" cy="256527"/>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6F3FF"/>
                  </a:solidFill>
                  <a:latin typeface="Arial" pitchFamily="34" charset="0"/>
                  <a:ea typeface="Arial" pitchFamily="34" charset="-122"/>
                  <a:cs typeface="Arial" pitchFamily="34" charset="-120"/>
                </a:rPr>
                <a:t>Java (Swing)</a:t>
              </a:r>
              <a:endParaRPr lang="en-US" sz="1300" dirty="0"/>
            </a:p>
          </p:txBody>
        </p:sp>
        <p:sp>
          <p:nvSpPr>
            <p:cNvPr id="9" name="Text 4"/>
            <p:cNvSpPr/>
            <p:nvPr/>
          </p:nvSpPr>
          <p:spPr>
            <a:xfrm>
              <a:off x="1021599" y="1879309"/>
              <a:ext cx="3092959" cy="203196"/>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D8CFFB"/>
                  </a:solidFill>
                  <a:latin typeface="Arial" pitchFamily="34" charset="0"/>
                  <a:ea typeface="Arial" pitchFamily="34" charset="-122"/>
                  <a:cs typeface="Arial" pitchFamily="34" charset="-120"/>
                </a:rPr>
                <a:t>Interfaz gráfica de escritorio</a:t>
              </a:r>
              <a:endParaRPr lang="en-US" sz="1000" dirty="0"/>
            </a:p>
          </p:txBody>
        </p:sp>
      </p:grpSp>
      <p:grpSp>
        <p:nvGrpSpPr>
          <p:cNvPr id="21" name="Grupo 20">
            <a:extLst>
              <a:ext uri="{FF2B5EF4-FFF2-40B4-BE49-F238E27FC236}">
                <a16:creationId xmlns:a16="http://schemas.microsoft.com/office/drawing/2014/main" id="{F5E08FE7-26BF-EC4B-E83D-75BF9C0592BC}"/>
              </a:ext>
            </a:extLst>
          </p:cNvPr>
          <p:cNvGrpSpPr/>
          <p:nvPr/>
        </p:nvGrpSpPr>
        <p:grpSpPr>
          <a:xfrm>
            <a:off x="4435727" y="2609820"/>
            <a:ext cx="3414216" cy="1023310"/>
            <a:chOff x="4388821" y="1239422"/>
            <a:chExt cx="3414216" cy="1023310"/>
          </a:xfrm>
        </p:grpSpPr>
        <p:sp>
          <p:nvSpPr>
            <p:cNvPr id="10" name="Shape 5"/>
            <p:cNvSpPr/>
            <p:nvPr/>
          </p:nvSpPr>
          <p:spPr>
            <a:xfrm>
              <a:off x="4388821" y="1239422"/>
              <a:ext cx="3414216" cy="1023310"/>
            </a:xfrm>
            <a:prstGeom prst="roundRect">
              <a:avLst>
                <a:gd name="adj" fmla="val 9618"/>
              </a:avLst>
            </a:prstGeom>
            <a:solidFill>
              <a:srgbClr val="FFFFFF">
                <a:alpha val="8000"/>
              </a:srgbClr>
            </a:solidFill>
            <a:ln w="6350">
              <a:solidFill>
                <a:srgbClr val="FFFFFF">
                  <a:alpha val="14000"/>
                </a:srgbClr>
              </a:solidFill>
              <a:prstDash val="solid"/>
            </a:ln>
          </p:spPr>
          <p:txBody>
            <a:bodyPr/>
            <a:lstStyle/>
            <a:p>
              <a:endParaRPr lang="es-CO" dirty="0"/>
            </a:p>
          </p:txBody>
        </p:sp>
        <p:pic>
          <p:nvPicPr>
            <p:cNvPr id="11" name="Image 3" descr="Database"/>
            <p:cNvPicPr>
              <a:picLocks noChangeAspect="1"/>
            </p:cNvPicPr>
            <p:nvPr/>
          </p:nvPicPr>
          <p:blipFill>
            <a:blip r:embed="rId6"/>
            <a:srcRect/>
            <a:stretch/>
          </p:blipFill>
          <p:spPr>
            <a:xfrm>
              <a:off x="4594448" y="1445050"/>
              <a:ext cx="203133" cy="203133"/>
            </a:xfrm>
            <a:prstGeom prst="rect">
              <a:avLst/>
            </a:prstGeom>
          </p:spPr>
        </p:pic>
        <p:sp>
          <p:nvSpPr>
            <p:cNvPr id="12" name="Text 6"/>
            <p:cNvSpPr/>
            <p:nvPr/>
          </p:nvSpPr>
          <p:spPr>
            <a:xfrm>
              <a:off x="4594448" y="1648182"/>
              <a:ext cx="3093051" cy="256527"/>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6F3FF"/>
                  </a:solidFill>
                  <a:latin typeface="Arial" pitchFamily="34" charset="0"/>
                  <a:ea typeface="Arial" pitchFamily="34" charset="-122"/>
                  <a:cs typeface="Arial" pitchFamily="34" charset="-120"/>
                </a:rPr>
                <a:t>SQLite</a:t>
              </a:r>
              <a:endParaRPr lang="en-US" sz="1300" dirty="0"/>
            </a:p>
          </p:txBody>
        </p:sp>
        <p:sp>
          <p:nvSpPr>
            <p:cNvPr id="13" name="Text 7"/>
            <p:cNvSpPr/>
            <p:nvPr/>
          </p:nvSpPr>
          <p:spPr>
            <a:xfrm>
              <a:off x="4594448" y="1879309"/>
              <a:ext cx="3093051" cy="203196"/>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D8CFFB"/>
                  </a:solidFill>
                  <a:latin typeface="Arial" pitchFamily="34" charset="0"/>
                  <a:ea typeface="Arial" pitchFamily="34" charset="-122"/>
                  <a:cs typeface="Arial" pitchFamily="34" charset="-120"/>
                </a:rPr>
                <a:t>Productos, clientes, ventas y detalle</a:t>
              </a:r>
              <a:endParaRPr lang="en-US" sz="1000" dirty="0"/>
            </a:p>
          </p:txBody>
        </p:sp>
      </p:grpSp>
      <p:grpSp>
        <p:nvGrpSpPr>
          <p:cNvPr id="22" name="Grupo 21">
            <a:extLst>
              <a:ext uri="{FF2B5EF4-FFF2-40B4-BE49-F238E27FC236}">
                <a16:creationId xmlns:a16="http://schemas.microsoft.com/office/drawing/2014/main" id="{12EC32C4-F577-2F35-4B04-F6D298F97EB0}"/>
              </a:ext>
            </a:extLst>
          </p:cNvPr>
          <p:cNvGrpSpPr/>
          <p:nvPr/>
        </p:nvGrpSpPr>
        <p:grpSpPr>
          <a:xfrm>
            <a:off x="8055570" y="2609820"/>
            <a:ext cx="3414216" cy="1023310"/>
            <a:chOff x="7961759" y="1239422"/>
            <a:chExt cx="3414216" cy="1023310"/>
          </a:xfrm>
        </p:grpSpPr>
        <p:sp>
          <p:nvSpPr>
            <p:cNvPr id="14" name="Shape 8"/>
            <p:cNvSpPr/>
            <p:nvPr/>
          </p:nvSpPr>
          <p:spPr>
            <a:xfrm>
              <a:off x="7961759" y="1239422"/>
              <a:ext cx="3414216" cy="1023310"/>
            </a:xfrm>
            <a:prstGeom prst="roundRect">
              <a:avLst>
                <a:gd name="adj" fmla="val 9618"/>
              </a:avLst>
            </a:prstGeom>
            <a:solidFill>
              <a:srgbClr val="FFFFFF">
                <a:alpha val="8000"/>
              </a:srgbClr>
            </a:solidFill>
            <a:ln w="6350">
              <a:solidFill>
                <a:srgbClr val="FFFFFF">
                  <a:alpha val="14000"/>
                </a:srgbClr>
              </a:solidFill>
              <a:prstDash val="solid"/>
            </a:ln>
          </p:spPr>
          <p:txBody>
            <a:bodyPr/>
            <a:lstStyle/>
            <a:p>
              <a:endParaRPr lang="es-CO"/>
            </a:p>
          </p:txBody>
        </p:sp>
        <p:pic>
          <p:nvPicPr>
            <p:cNvPr id="15" name="Image 4" descr="Tool"/>
            <p:cNvPicPr>
              <a:picLocks noChangeAspect="1"/>
            </p:cNvPicPr>
            <p:nvPr/>
          </p:nvPicPr>
          <p:blipFill>
            <a:blip r:embed="rId7"/>
            <a:srcRect/>
            <a:stretch/>
          </p:blipFill>
          <p:spPr>
            <a:xfrm>
              <a:off x="8167386" y="1445050"/>
              <a:ext cx="203133" cy="203133"/>
            </a:xfrm>
            <a:prstGeom prst="rect">
              <a:avLst/>
            </a:prstGeom>
          </p:spPr>
        </p:pic>
        <p:sp>
          <p:nvSpPr>
            <p:cNvPr id="16" name="Text 9"/>
            <p:cNvSpPr/>
            <p:nvPr/>
          </p:nvSpPr>
          <p:spPr>
            <a:xfrm>
              <a:off x="8167386" y="1648182"/>
              <a:ext cx="3093051" cy="256527"/>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6F3FF"/>
                  </a:solidFill>
                  <a:latin typeface="Arial" pitchFamily="34" charset="0"/>
                  <a:ea typeface="Arial" pitchFamily="34" charset="-122"/>
                  <a:cs typeface="Arial" pitchFamily="34" charset="-120"/>
                </a:rPr>
                <a:t>NetBeans</a:t>
              </a:r>
              <a:endParaRPr lang="en-US" sz="1300" dirty="0"/>
            </a:p>
          </p:txBody>
        </p:sp>
        <p:sp>
          <p:nvSpPr>
            <p:cNvPr id="17" name="Text 10"/>
            <p:cNvSpPr/>
            <p:nvPr/>
          </p:nvSpPr>
          <p:spPr>
            <a:xfrm>
              <a:off x="8167386" y="1879309"/>
              <a:ext cx="3093051" cy="203196"/>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D8CFFB"/>
                  </a:solidFill>
                  <a:latin typeface="Arial" pitchFamily="34" charset="0"/>
                  <a:ea typeface="Arial" pitchFamily="34" charset="-122"/>
                  <a:cs typeface="Arial" pitchFamily="34" charset="-120"/>
                </a:rPr>
                <a:t>Entorno de desarrollo</a:t>
              </a:r>
              <a:endParaRPr lang="en-US" sz="1000" dirty="0"/>
            </a:p>
          </p:txBody>
        </p:sp>
      </p:grpSp>
      <p:sp>
        <p:nvSpPr>
          <p:cNvPr id="19" name="Text 11"/>
          <p:cNvSpPr/>
          <p:nvPr/>
        </p:nvSpPr>
        <p:spPr>
          <a:xfrm>
            <a:off x="1181057" y="5742992"/>
            <a:ext cx="5779601" cy="327574"/>
          </a:xfrm>
          <a:prstGeom prst="rect">
            <a:avLst/>
          </a:prstGeom>
          <a:noFill/>
          <a:ln/>
        </p:spPr>
        <p:txBody>
          <a:bodyPr wrap="square" lIns="0" tIns="0" rIns="0" bIns="0" rtlCol="0" anchor="t">
            <a:normAutofit/>
          </a:bodyPr>
          <a:lstStyle/>
          <a:p>
            <a:pPr marL="0" indent="0" algn="l">
              <a:lnSpc>
                <a:spcPts val="2380"/>
              </a:lnSpc>
              <a:buNone/>
            </a:pPr>
            <a:endParaRPr lang="en-US" sz="1700" dirty="0"/>
          </a:p>
        </p:txBody>
      </p:sp>
      <p:pic>
        <p:nvPicPr>
          <p:cNvPr id="24" name="Imagen 23">
            <a:extLst>
              <a:ext uri="{FF2B5EF4-FFF2-40B4-BE49-F238E27FC236}">
                <a16:creationId xmlns:a16="http://schemas.microsoft.com/office/drawing/2014/main" id="{98EC37A7-DECE-9DCD-65A1-AA1BCF239560}"/>
              </a:ext>
            </a:extLst>
          </p:cNvPr>
          <p:cNvPicPr>
            <a:picLocks noChangeAspect="1"/>
          </p:cNvPicPr>
          <p:nvPr/>
        </p:nvPicPr>
        <p:blipFill>
          <a:blip r:embed="rId8"/>
          <a:stretch>
            <a:fillRect/>
          </a:stretch>
        </p:blipFill>
        <p:spPr>
          <a:xfrm>
            <a:off x="11239500" y="106136"/>
            <a:ext cx="827314" cy="810768"/>
          </a:xfrm>
          <a:prstGeom prst="rect">
            <a:avLst/>
          </a:prstGeom>
        </p:spPr>
      </p:pic>
      <p:sp>
        <p:nvSpPr>
          <p:cNvPr id="33" name="Text 7">
            <a:extLst>
              <a:ext uri="{FF2B5EF4-FFF2-40B4-BE49-F238E27FC236}">
                <a16:creationId xmlns:a16="http://schemas.microsoft.com/office/drawing/2014/main" id="{CD2F1229-9F81-07CB-0D37-1807B1645319}"/>
              </a:ext>
            </a:extLst>
          </p:cNvPr>
          <p:cNvSpPr/>
          <p:nvPr/>
        </p:nvSpPr>
        <p:spPr>
          <a:xfrm>
            <a:off x="4230099" y="6070566"/>
            <a:ext cx="2926320" cy="549189"/>
          </a:xfrm>
          <a:prstGeom prst="rect">
            <a:avLst/>
          </a:prstGeom>
          <a:noFill/>
          <a:ln/>
        </p:spPr>
        <p:txBody>
          <a:bodyPr wrap="square" lIns="0" tIns="0" rIns="0" bIns="0" rtlCol="0" anchor="t">
            <a:noAutofit/>
          </a:bodyPr>
          <a:lstStyle/>
          <a:p>
            <a:pPr algn="ctr">
              <a:lnSpc>
                <a:spcPts val="1400"/>
              </a:lnSpc>
            </a:pPr>
            <a:r>
              <a:rPr lang="en-US" sz="1400" dirty="0">
                <a:solidFill>
                  <a:schemeClr val="tx1">
                    <a:lumMod val="95000"/>
                    <a:lumOff val="5000"/>
                  </a:schemeClr>
                </a:solidFill>
                <a:hlinkClick r:id="rId9">
                  <a:extLst>
                    <a:ext uri="{A12FA001-AC4F-418D-AE19-62706E023703}">
                      <ahyp:hlinkClr xmlns:ahyp="http://schemas.microsoft.com/office/drawing/2018/hyperlinkcolor" val="tx"/>
                    </a:ext>
                  </a:extLst>
                </a:hlinkClick>
              </a:rPr>
              <a:t>https://github.com/delahozcristian36-eng/PROYECTO_SENA.git</a:t>
            </a:r>
            <a:endParaRPr lang="en-US" sz="1400" dirty="0">
              <a:solidFill>
                <a:schemeClr val="tx1">
                  <a:lumMod val="95000"/>
                  <a:lumOff val="5000"/>
                </a:schemeClr>
              </a:solidFill>
            </a:endParaRPr>
          </a:p>
        </p:txBody>
      </p:sp>
      <p:sp>
        <p:nvSpPr>
          <p:cNvPr id="34" name="CuadroTexto 33">
            <a:extLst>
              <a:ext uri="{FF2B5EF4-FFF2-40B4-BE49-F238E27FC236}">
                <a16:creationId xmlns:a16="http://schemas.microsoft.com/office/drawing/2014/main" id="{F49E522D-0611-9FF9-6DE3-B5C7A9293AC9}"/>
              </a:ext>
            </a:extLst>
          </p:cNvPr>
          <p:cNvSpPr txBox="1"/>
          <p:nvPr/>
        </p:nvSpPr>
        <p:spPr>
          <a:xfrm>
            <a:off x="4382131" y="5706724"/>
            <a:ext cx="2622256" cy="400110"/>
          </a:xfrm>
          <a:prstGeom prst="rect">
            <a:avLst/>
          </a:prstGeom>
          <a:noFill/>
        </p:spPr>
        <p:txBody>
          <a:bodyPr wrap="none" rtlCol="0">
            <a:spAutoFit/>
          </a:bodyPr>
          <a:lstStyle/>
          <a:p>
            <a:r>
              <a:rPr lang="es-CO" sz="2000" b="1" dirty="0">
                <a:solidFill>
                  <a:schemeClr val="bg1"/>
                </a:solidFill>
              </a:rPr>
              <a:t>Repositorio en GitHub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lipse 5">
            <a:extLst>
              <a:ext uri="{FF2B5EF4-FFF2-40B4-BE49-F238E27FC236}">
                <a16:creationId xmlns:a16="http://schemas.microsoft.com/office/drawing/2014/main" id="{B1CD5848-6DC3-EC81-F8B7-6E72D3560DC0}"/>
              </a:ext>
            </a:extLst>
          </p:cNvPr>
          <p:cNvSpPr/>
          <p:nvPr/>
        </p:nvSpPr>
        <p:spPr>
          <a:xfrm>
            <a:off x="9189115" y="3953404"/>
            <a:ext cx="2518469" cy="2610682"/>
          </a:xfrm>
          <a:prstGeom prst="ellips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Elipse 7">
            <a:extLst>
              <a:ext uri="{FF2B5EF4-FFF2-40B4-BE49-F238E27FC236}">
                <a16:creationId xmlns:a16="http://schemas.microsoft.com/office/drawing/2014/main" id="{ABA09208-1BE9-9E95-E3BA-4CC92E28873F}"/>
              </a:ext>
            </a:extLst>
          </p:cNvPr>
          <p:cNvSpPr/>
          <p:nvPr/>
        </p:nvSpPr>
        <p:spPr>
          <a:xfrm>
            <a:off x="507758" y="676388"/>
            <a:ext cx="806691" cy="751945"/>
          </a:xfrm>
          <a:prstGeom prst="ellips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Elipse 9">
            <a:extLst>
              <a:ext uri="{FF2B5EF4-FFF2-40B4-BE49-F238E27FC236}">
                <a16:creationId xmlns:a16="http://schemas.microsoft.com/office/drawing/2014/main" id="{5A1B3DCA-8D71-1909-AFBE-37901546A970}"/>
              </a:ext>
            </a:extLst>
          </p:cNvPr>
          <p:cNvSpPr/>
          <p:nvPr/>
        </p:nvSpPr>
        <p:spPr>
          <a:xfrm>
            <a:off x="10598816" y="419213"/>
            <a:ext cx="855678" cy="838087"/>
          </a:xfrm>
          <a:prstGeom prst="ellipse">
            <a:avLst/>
          </a:prstGeom>
          <a:solidFill>
            <a:schemeClr val="accent1">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ln>
                <a:solidFill>
                  <a:schemeClr val="accent1">
                    <a:lumMod val="20000"/>
                    <a:lumOff val="80000"/>
                  </a:schemeClr>
                </a:solidFill>
              </a:ln>
            </a:endParaRPr>
          </a:p>
        </p:txBody>
      </p:sp>
      <p:sp>
        <p:nvSpPr>
          <p:cNvPr id="18" name="CuadroTexto 17">
            <a:extLst>
              <a:ext uri="{FF2B5EF4-FFF2-40B4-BE49-F238E27FC236}">
                <a16:creationId xmlns:a16="http://schemas.microsoft.com/office/drawing/2014/main" id="{A10A6A14-837D-15BC-812F-5E3C9859CFC7}"/>
              </a:ext>
            </a:extLst>
          </p:cNvPr>
          <p:cNvSpPr txBox="1"/>
          <p:nvPr/>
        </p:nvSpPr>
        <p:spPr>
          <a:xfrm>
            <a:off x="3731078" y="2753075"/>
            <a:ext cx="4172937" cy="1200329"/>
          </a:xfrm>
          <a:prstGeom prst="rect">
            <a:avLst/>
          </a:prstGeom>
          <a:noFill/>
        </p:spPr>
        <p:txBody>
          <a:bodyPr wrap="none" rtlCol="0">
            <a:spAutoFit/>
          </a:bodyPr>
          <a:lstStyle/>
          <a:p>
            <a:r>
              <a:rPr lang="es-CO" sz="7200" dirty="0">
                <a:solidFill>
                  <a:schemeClr val="accent1">
                    <a:lumMod val="50000"/>
                  </a:schemeClr>
                </a:solidFill>
              </a:rPr>
              <a:t>¡</a:t>
            </a:r>
            <a:r>
              <a:rPr lang="es-CO" sz="7200" b="1" dirty="0">
                <a:solidFill>
                  <a:schemeClr val="accent1">
                    <a:lumMod val="50000"/>
                  </a:schemeClr>
                </a:solidFill>
                <a:latin typeface="Arial" panose="020B0604020202020204" pitchFamily="34" charset="0"/>
                <a:cs typeface="Arial" panose="020B0604020202020204" pitchFamily="34" charset="0"/>
              </a:rPr>
              <a:t>Gracias</a:t>
            </a:r>
            <a:r>
              <a:rPr lang="es-CO" sz="7200" dirty="0">
                <a:solidFill>
                  <a:schemeClr val="accent1">
                    <a:lumMod val="50000"/>
                  </a:schemeClr>
                </a:solidFill>
              </a:rPr>
              <a:t>!</a:t>
            </a:r>
          </a:p>
        </p:txBody>
      </p:sp>
      <p:pic>
        <p:nvPicPr>
          <p:cNvPr id="20" name="Image 5" descr="ThumbsUp">
            <a:extLst>
              <a:ext uri="{FF2B5EF4-FFF2-40B4-BE49-F238E27FC236}">
                <a16:creationId xmlns:a16="http://schemas.microsoft.com/office/drawing/2014/main" id="{295882EE-F26C-2175-504C-B24FC83832D0}"/>
              </a:ext>
            </a:extLst>
          </p:cNvPr>
          <p:cNvPicPr>
            <a:picLocks noChangeAspect="1"/>
          </p:cNvPicPr>
          <p:nvPr/>
        </p:nvPicPr>
        <p:blipFill>
          <a:blip r:embed="rId2">
            <a:duotone>
              <a:prstClr val="black"/>
              <a:schemeClr val="accent1">
                <a:tint val="45000"/>
                <a:satMod val="400000"/>
              </a:schemeClr>
            </a:duotone>
          </a:blip>
          <a:srcRect/>
          <a:stretch/>
        </p:blipFill>
        <p:spPr>
          <a:xfrm>
            <a:off x="3101399" y="3114160"/>
            <a:ext cx="629679" cy="629679"/>
          </a:xfrm>
          <a:prstGeom prst="rect">
            <a:avLst/>
          </a:prstGeom>
        </p:spPr>
      </p:pic>
    </p:spTree>
    <p:extLst>
      <p:ext uri="{BB962C8B-B14F-4D97-AF65-F5344CB8AC3E}">
        <p14:creationId xmlns:p14="http://schemas.microsoft.com/office/powerpoint/2010/main" val="1474653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B67E9313B5F4D649A8E7270B5F5DB764" ma:contentTypeVersion="4" ma:contentTypeDescription="Crear nuevo documento." ma:contentTypeScope="" ma:versionID="fdb582f5f7b8f786a9509845d603a70e">
  <xsd:schema xmlns:xsd="http://www.w3.org/2001/XMLSchema" xmlns:xs="http://www.w3.org/2001/XMLSchema" xmlns:p="http://schemas.microsoft.com/office/2006/metadata/properties" xmlns:ns3="da866809-d37b-487e-8acd-4de95ab2f15d" targetNamespace="http://schemas.microsoft.com/office/2006/metadata/properties" ma:root="true" ma:fieldsID="9c4d2914e76a7cb8da511d9aa54b56d8" ns3:_="">
    <xsd:import namespace="da866809-d37b-487e-8acd-4de95ab2f15d"/>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866809-d37b-487e-8acd-4de95ab2f15d"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30FFFE3-42BF-4C89-B38A-E9251DEE585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866809-d37b-487e-8acd-4de95ab2f15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2B300D2-A492-4FF3-9E04-8416B2ECB308}">
  <ds:schemaRefs>
    <ds:schemaRef ds:uri="da866809-d37b-487e-8acd-4de95ab2f15d"/>
    <ds:schemaRef ds:uri="http://schemas.microsoft.com/office/2006/documentManagement/types"/>
    <ds:schemaRef ds:uri="http://purl.org/dc/terms/"/>
    <ds:schemaRef ds:uri="http://www.w3.org/XML/1998/namespace"/>
    <ds:schemaRef ds:uri="http://schemas.microsoft.com/office/infopath/2007/PartnerControls"/>
    <ds:schemaRef ds:uri="http://purl.org/dc/elements/1.1/"/>
    <ds:schemaRef ds:uri="http://schemas.openxmlformats.org/package/2006/metadata/core-properties"/>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CBA32600-3301-4854-A40D-972F535037F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147</TotalTime>
  <Words>544</Words>
  <Application>Microsoft Office PowerPoint</Application>
  <PresentationFormat>Panorámica</PresentationFormat>
  <Paragraphs>63</Paragraphs>
  <Slides>11</Slides>
  <Notes>10</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11</vt:i4>
      </vt:variant>
    </vt:vector>
  </HeadingPairs>
  <TitlesOfParts>
    <vt:vector size="13" baseType="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Galapa Express – Sistema de Tienda de Abarrotes</dc:title>
  <dc:subject>PptxGenJS Presentation</dc:subject>
  <dc:creator>PptxGenJS</dc:creator>
  <cp:lastModifiedBy>CRISTIAN JOSE DE LA HOZ ZAPATA</cp:lastModifiedBy>
  <cp:revision>6</cp:revision>
  <dcterms:created xsi:type="dcterms:W3CDTF">2026-09-27T23:26:00Z</dcterms:created>
  <dcterms:modified xsi:type="dcterms:W3CDTF">2026-09-28T22:02:57Z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0x010100B67E9313B5F4D649A8E7270B5F5DB764</vt:lpwstr>
  </property>
</Properties>
</file>